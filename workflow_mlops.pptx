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3B5E"/>
                </a:solidFill>
              </a:rPr>
              <a:t>Architecture MLOps — Du dataset à la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5" y="237743"/>
            <a:ext cx="1490472" cy="43891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256031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43B5E"/>
                </a:solidFill>
              </a:rPr>
              <a:t>Source</a:t>
            </a:r>
          </a:p>
          <a:p>
            <a:pPr algn="ctr"/>
            <a:r>
              <a:rPr sz="750" b="1">
                <a:solidFill>
                  <a:srgbClr val="143B5E"/>
                </a:solidFill>
              </a:rPr>
              <a:t>unique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2224" y="237743"/>
            <a:ext cx="1645920" cy="43891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56031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43B5E"/>
                </a:solidFill>
              </a:rPr>
              <a:t>Use Cases</a:t>
            </a:r>
          </a:p>
          <a:p>
            <a:pPr algn="ctr"/>
            <a:r>
              <a:rPr sz="750" b="1">
                <a:solidFill>
                  <a:srgbClr val="143B5E"/>
                </a:solidFill>
              </a:rPr>
              <a:t>&amp; Modèles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1024" y="237743"/>
            <a:ext cx="1764792" cy="43891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6031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43B5E"/>
                </a:solidFill>
              </a:rPr>
              <a:t>Pipeline</a:t>
            </a:r>
          </a:p>
          <a:p>
            <a:pPr algn="ctr"/>
            <a:r>
              <a:rPr sz="750" b="1">
                <a:solidFill>
                  <a:srgbClr val="143B5E"/>
                </a:solidFill>
              </a:rPr>
              <a:t>MLOps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86984" y="237743"/>
            <a:ext cx="1764792" cy="43891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56031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43B5E"/>
                </a:solidFill>
              </a:rPr>
              <a:t>Registre</a:t>
            </a:r>
          </a:p>
          <a:p>
            <a:pPr algn="ctr"/>
            <a:r>
              <a:rPr sz="750" b="1">
                <a:solidFill>
                  <a:srgbClr val="143B5E"/>
                </a:solidFill>
              </a:rPr>
              <a:t>MLflow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2944" y="237743"/>
            <a:ext cx="1581912" cy="43891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56031"/>
            <a:ext cx="1508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43B5E"/>
                </a:solidFill>
              </a:rPr>
              <a:t>APIs</a:t>
            </a:r>
          </a:p>
          <a:p>
            <a:pPr algn="ctr"/>
            <a:r>
              <a:rPr sz="750" b="1">
                <a:solidFill>
                  <a:srgbClr val="143B5E"/>
                </a:solidFill>
              </a:rPr>
              <a:t>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18904" y="237743"/>
            <a:ext cx="2496312" cy="438912"/>
          </a:xfrm>
          <a:prstGeom prst="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56031"/>
            <a:ext cx="2423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43B5E"/>
                </a:solidFill>
              </a:rPr>
              <a:t>Utilisateurs</a:t>
            </a:r>
          </a:p>
          <a:p>
            <a:pPr algn="ctr"/>
            <a:r>
              <a:rPr sz="750" b="1">
                <a:solidFill>
                  <a:srgbClr val="143B5E"/>
                </a:solidFill>
              </a:rPr>
              <a:t>(Personas)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" y="749808"/>
            <a:ext cx="1417320" cy="5029200"/>
          </a:xfrm>
          <a:prstGeom prst="round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</a:rPr>
              <a:t>Data ONISR</a:t>
            </a:r>
          </a:p>
          <a:p>
            <a:pPr algn="ctr">
              <a:spcBef>
                <a:spcPts val="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</a:rPr>
              <a:t>2021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</a:rPr>
              <a:t>→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749808"/>
            <a:ext cx="1572768" cy="1188720"/>
          </a:xfrm>
          <a:prstGeom prst="roundRect">
            <a:avLst/>
          </a:prstGeom>
          <a:solidFill>
            <a:srgbClr val="0D477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★  UC 1 — Léon DORE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Prédiction gravité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en 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2029968"/>
            <a:ext cx="1572768" cy="11887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UC 2 — Sylvie FERRAND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Scénarios What-If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310128"/>
            <a:ext cx="1572768" cy="11887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UC 3 — Marc DURAND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Points Noirs / Heatmap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590288"/>
            <a:ext cx="1572768" cy="1188720"/>
          </a:xfrm>
          <a:prstGeom prst="roundRect">
            <a:avLst/>
          </a:prstGeom>
          <a:solidFill>
            <a:srgbClr val="78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850" b="0">
                <a:solidFill>
                  <a:srgbClr val="FFFFFF"/>
                </a:solidFill>
              </a:rPr>
              <a:t>UC 1 — Modèle challenger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(ex: XGBoost vs RF)</a:t>
            </a:r>
          </a:p>
          <a:p>
            <a:pPr algn="ctr"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</a:rPr>
              <a:t>⟶ comparé dans MLflow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749808"/>
            <a:ext cx="1691640" cy="5029200"/>
          </a:xfrm>
          <a:prstGeom prst="round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</a:rPr>
              <a:t>Pipeline MLOps</a:t>
            </a:r>
          </a:p>
          <a:p>
            <a:pPr algn="ctr"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</a:rPr>
              <a:t>── ── ──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GitHub Actions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CI / CD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MLflow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Tracking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DVC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Versioning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749808"/>
            <a:ext cx="1691640" cy="5029200"/>
          </a:xfrm>
          <a:prstGeom prst="round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</a:rPr>
              <a:t>Registre MLflow</a:t>
            </a:r>
          </a:p>
          <a:p>
            <a:pPr algn="ctr"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</a:rPr>
              <a:t>── ── ──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Évaluation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&amp; sélection</a:t>
            </a:r>
          </a:p>
          <a:p>
            <a:pPr algn="ctr">
              <a:spcBef>
                <a:spcPts val="0"/>
              </a:spcBef>
            </a:pPr>
            <a:r>
              <a:rPr sz="800" b="1">
                <a:solidFill>
                  <a:srgbClr val="FFFFFF"/>
                </a:solidFill>
              </a:rPr>
              <a:t>champion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</a:rPr>
              <a:t>@Production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(1 modèle / UC)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Challenger ❌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non promu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749808"/>
            <a:ext cx="1508760" cy="1188720"/>
          </a:xfrm>
          <a:prstGeom prst="roundRect">
            <a:avLst/>
          </a:prstGeom>
          <a:solidFill>
            <a:srgbClr val="0D477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</a:rPr>
              <a:t>FastAPI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/predict  /health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029968"/>
            <a:ext cx="1508760" cy="2468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</a:rPr>
              <a:t>Gradio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Simulateur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4590288"/>
            <a:ext cx="1508760" cy="1188720"/>
          </a:xfrm>
          <a:prstGeom prst="roundRect">
            <a:avLst/>
          </a:prstGeom>
          <a:solidFill>
            <a:srgbClr val="78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850" b="0">
                <a:solidFill>
                  <a:srgbClr val="FFFFFF"/>
                </a:solidFill>
              </a:rPr>
              <a:t>Non déployé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(MLflow only)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749808"/>
            <a:ext cx="2423160" cy="1188720"/>
          </a:xfrm>
          <a:prstGeom prst="roundRect">
            <a:avLst/>
          </a:prstGeom>
          <a:solidFill>
            <a:srgbClr val="0D477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★  Léon DORE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MLOps Lead</a:t>
            </a:r>
          </a:p>
          <a:p>
            <a:pPr algn="ctr"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</a:rPr>
              <a:t>Opère, monitore &amp; rollback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2029968"/>
            <a:ext cx="2423160" cy="118872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Sylvie FERRAND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Bison Futé</a:t>
            </a:r>
          </a:p>
          <a:p>
            <a:pPr algn="ctr"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</a:rPr>
              <a:t>Simule des politiques routières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3310128"/>
            <a:ext cx="2423160" cy="118872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Marc DURAND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Géo Trouvetou</a:t>
            </a:r>
          </a:p>
          <a:p>
            <a:pPr algn="ctr"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</a:rPr>
              <a:t>Produit les heatmaps de risque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19" y="5047488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99AA"/>
                </a:solidFill>
              </a:rPr>
              <a:t>— pas de déploiement 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81912" y="3264408"/>
            <a:ext cx="246888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01568" y="3264408"/>
            <a:ext cx="256032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9240" y="3264408"/>
            <a:ext cx="274320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15200" y="1344168"/>
            <a:ext cx="274320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3218688"/>
            <a:ext cx="274320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98280" y="1344168"/>
            <a:ext cx="457200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98280" y="2624328"/>
            <a:ext cx="457200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98280" y="3904488"/>
            <a:ext cx="457200" cy="0"/>
          </a:xfrm>
          <a:prstGeom prst="line">
            <a:avLst/>
          </a:prstGeom>
          <a:ln w="22860">
            <a:solidFill>
              <a:srgbClr val="143B5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01568" y="5184648"/>
            <a:ext cx="2221992" cy="0"/>
          </a:xfrm>
          <a:prstGeom prst="line">
            <a:avLst/>
          </a:prstGeom>
          <a:ln w="15240">
            <a:solidFill>
              <a:srgbClr val="7890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15200" y="5184648"/>
            <a:ext cx="274320" cy="0"/>
          </a:xfrm>
          <a:prstGeom prst="line">
            <a:avLst/>
          </a:prstGeom>
          <a:ln w="15240">
            <a:solidFill>
              <a:srgbClr val="7890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19338" y="1435608"/>
            <a:ext cx="0" cy="4544568"/>
          </a:xfrm>
          <a:prstGeom prst="line">
            <a:avLst/>
          </a:prstGeom>
          <a:ln w="19050">
            <a:solidFill>
              <a:srgbClr val="1A7A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657600" y="5980176"/>
            <a:ext cx="4761738" cy="0"/>
          </a:xfrm>
          <a:prstGeom prst="line">
            <a:avLst/>
          </a:prstGeom>
          <a:ln w="27940">
            <a:solidFill>
              <a:srgbClr val="1A7A45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657600" y="5815584"/>
            <a:ext cx="4761738" cy="310896"/>
          </a:xfrm>
          <a:prstGeom prst="rect">
            <a:avLst/>
          </a:prstGeom>
          <a:solidFill>
            <a:srgbClr val="E4F5EA"/>
          </a:solidFill>
          <a:ln w="9525">
            <a:solidFill>
              <a:srgbClr val="1A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12463" y="5824728"/>
            <a:ext cx="465201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7A45"/>
                </a:solidFill>
              </a:rPr>
              <a:t>Monitoring Drift (Evidently)  ▶  alerte Léon DORE  ▶  retrigger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7788"/>
                </a:solidFill>
              </a:rPr>
              <a:t>★ = actif en production  ·  Challenger : comparé dans MLflow, non déployé si KPIs insuffisants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