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114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Léon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914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A8C8E8"/>
                </a:solidFill>
              </a:rPr>
              <a:t>MLOps Lead — Gardien de la Production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1371600" cy="1371600"/>
          </a:xfrm>
          <a:prstGeom prst="ellipse">
            <a:avLst/>
          </a:prstGeom>
          <a:solidFill>
            <a:srgbClr val="E8F2FA"/>
          </a:solidFill>
          <a:ln w="25400">
            <a:solidFill>
              <a:srgbClr val="A8C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1371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43B5E"/>
                </a:solidFill>
              </a:rPr>
              <a:t>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29718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Nom : </a:t>
            </a:r>
            <a:r>
              <a:rPr sz="850">
                <a:solidFill>
                  <a:srgbClr val="C8DEF2"/>
                </a:solidFill>
              </a:rPr>
              <a:t>Léon DORE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324154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Âge : </a:t>
            </a:r>
            <a:r>
              <a:rPr sz="850">
                <a:solidFill>
                  <a:srgbClr val="C8DEF2"/>
                </a:solidFill>
              </a:rPr>
              <a:t>41 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351129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Profession : </a:t>
            </a:r>
            <a:r>
              <a:rPr sz="850">
                <a:solidFill>
                  <a:srgbClr val="C8DEF2"/>
                </a:solidFill>
              </a:rPr>
              <a:t>MLOps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3781044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Lieu : </a:t>
            </a:r>
            <a:r>
              <a:rPr sz="850">
                <a:solidFill>
                  <a:srgbClr val="C8DEF2"/>
                </a:solidFill>
              </a:rPr>
              <a:t>Paris, France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405079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Situation : </a:t>
            </a:r>
            <a:r>
              <a:rPr sz="850">
                <a:solidFill>
                  <a:srgbClr val="C8DEF2"/>
                </a:solidFill>
              </a:rPr>
              <a:t>Célibataire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432054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Revenu : </a:t>
            </a:r>
            <a:r>
              <a:rPr sz="850">
                <a:solidFill>
                  <a:srgbClr val="C8DEF2"/>
                </a:solidFill>
              </a:rPr>
              <a:t>68 000 €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459028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FFFFFF"/>
                </a:solidFill>
              </a:rPr>
              <a:t>Éducation : </a:t>
            </a:r>
            <a:r>
              <a:rPr sz="850">
                <a:solidFill>
                  <a:srgbClr val="C8DEF2"/>
                </a:solidFill>
              </a:rPr>
              <a:t>Bac+5 — Ingénieur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0"/>
            <a:ext cx="8622792" cy="685800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58184" y="192024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2" y="256032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3B5E"/>
                </a:solidFill>
              </a:rPr>
              <a:t>Objectifs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530352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Que la prod ne tombe jamais entre deux réentraînements.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Que chaque modèle soit traçable, rollbackable et monitoré — sans exception.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Que les Data Scientists ne déploient plus jamais directement en prod.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14132" y="192024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8140" y="256032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3B5E"/>
                </a:solidFill>
              </a:rPr>
              <a:t>Besoins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8140" y="530352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Un pipeline CI/CD qui refuse de déployer un modèle non validé.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Une visibilité temps réel sur la dérive des distributions d'entrée.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Un registre de versions clair : quel modèle tourne, depuis quand, avec quelles métriques.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8184" y="2307336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2192" y="2371344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3B5E"/>
                </a:solidFill>
              </a:rPr>
              <a:t>Comportements au quotidien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" y="2645664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Vérifie Grafana avant son café du matin.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Bloque toute PR qui modifie le schéma API sans bump de version.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Ne fait pas confiance au cron — déclenche le réentraînement manuellement.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Relit les logs MLflow après chaque run pour vérifier la cohérence du run_id.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14132" y="2307336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8140" y="2371344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3B5E"/>
                </a:solidFill>
              </a:rPr>
              <a:t>Outils utilisés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8140" y="2645664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GitHub Actions — le seul chemin autorisé vers la prod.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MLflow — registre des modèles, source de vérité.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Grafana + Prometheus — tableau de bord ouvert en permanence.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Evidently — rapport de drift HTML/JSON après chaque cycle annuel.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Slack — pour alerter et éduquer les DS qui contournent le process.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58184" y="4422648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22192" y="4486656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3B5E"/>
                </a:solidFill>
              </a:rPr>
              <a:t>Problèmes rencontrés (avant la solution)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22192" y="4760976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Le DS livre un .joblib par Slack : « c'est la v2, tu peux l'uploader ? »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Détecte le drift 3 semaines après que le métier a remonté une anomalie.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Impossible de savoir quelle version tournait en prod le mois dernier.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14132" y="4422648"/>
            <a:ext cx="4082796" cy="2023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8140" y="4486656"/>
            <a:ext cx="39547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3B5E"/>
                </a:solidFill>
              </a:rPr>
              <a:t>Citation typique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8140" y="4760976"/>
            <a:ext cx="3954780" cy="1731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« Si tu ne passes pas par le pipeline,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tu ne déploies pas. Point.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Je ne suis pas là pour déboguer</a:t>
            </a:r>
          </a:p>
          <a:p>
            <a:pPr>
              <a:spcBef>
                <a:spcPts val="150"/>
              </a:spcBef>
            </a:pPr>
            <a:r>
              <a:rPr sz="800">
                <a:solidFill>
                  <a:srgbClr val="1A1A2E"/>
                </a:solidFill>
              </a:rPr>
              <a:t>• ton notebook à 18h un vendredi.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