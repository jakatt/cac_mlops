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73152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43B5E"/>
                </a:solidFill>
              </a:rPr>
              <a:t>Architecture MLOps — La plateforme au cœur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320040"/>
            <a:ext cx="11887200" cy="237744"/>
          </a:xfrm>
          <a:prstGeom prst="rect">
            <a:avLst/>
          </a:prstGeom>
          <a:solidFill>
            <a:srgbClr val="D4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9184"/>
            <a:ext cx="1170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COUCHE 1 — EXIGENCES   ·   Léon DORE définit ce que la plateforme doit garantir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594360"/>
            <a:ext cx="2286000" cy="1261872"/>
          </a:xfrm>
          <a:prstGeom prst="roundRect">
            <a:avLst/>
          </a:prstGeom>
          <a:solidFill>
            <a:srgbClr val="143B5E"/>
          </a:solidFill>
          <a:ln w="2540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</a:rPr>
              <a:t>Léon DORE</a:t>
            </a:r>
          </a:p>
          <a:p>
            <a:pPr algn="ctr"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</a:rPr>
              <a:t>"Prod Keeper"</a:t>
            </a:r>
          </a:p>
          <a:p>
            <a:pPr algn="ctr">
              <a:spcBef>
                <a:spcPts val="0"/>
              </a:spcBef>
            </a:pPr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MLOps Lead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594360"/>
            <a:ext cx="2210562" cy="1261872"/>
          </a:xfrm>
          <a:prstGeom prst="roundRect">
            <a:avLst/>
          </a:prstGeom>
          <a:solidFill>
            <a:srgbClr val="FFF8EC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78608" y="667512"/>
            <a:ext cx="211912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7B00"/>
                </a:solidFill>
              </a:rPr>
              <a:t>Uptime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914400"/>
            <a:ext cx="211912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3B5E"/>
                </a:solidFill>
              </a:rPr>
              <a:t>&gt; 99 %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1344168"/>
            <a:ext cx="211912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77"/>
                </a:solidFill>
              </a:rPr>
              <a:t>disponibilité</a:t>
            </a:r>
          </a:p>
          <a:p>
            <a:pPr algn="ctr"/>
            <a:r>
              <a:rPr sz="700" b="0" i="0">
                <a:solidFill>
                  <a:srgbClr val="556677"/>
                </a:solidFill>
              </a:rPr>
              <a:t>continue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53178" y="594360"/>
            <a:ext cx="2210562" cy="1261872"/>
          </a:xfrm>
          <a:prstGeom prst="roundRect">
            <a:avLst/>
          </a:prstGeom>
          <a:solidFill>
            <a:srgbClr val="FFF8EC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8898" y="667512"/>
            <a:ext cx="211912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7B00"/>
                </a:solidFill>
              </a:rPr>
              <a:t>Deploy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8898" y="914400"/>
            <a:ext cx="211912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3B5E"/>
                </a:solidFill>
              </a:rPr>
              <a:t>&lt; 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8898" y="1344168"/>
            <a:ext cx="211912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77"/>
                </a:solidFill>
              </a:rPr>
              <a:t>du push git</a:t>
            </a:r>
          </a:p>
          <a:p>
            <a:pPr algn="ctr"/>
            <a:r>
              <a:rPr sz="700" b="0" i="0">
                <a:solidFill>
                  <a:srgbClr val="556677"/>
                </a:solidFill>
              </a:rPr>
              <a:t>à la prod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3468" y="594360"/>
            <a:ext cx="2210562" cy="1261872"/>
          </a:xfrm>
          <a:prstGeom prst="roundRect">
            <a:avLst/>
          </a:prstGeom>
          <a:solidFill>
            <a:srgbClr val="FFF8EC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19188" y="667512"/>
            <a:ext cx="211912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7B00"/>
                </a:solidFill>
              </a:rPr>
              <a:t>Drift détecté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19188" y="914400"/>
            <a:ext cx="211912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3B5E"/>
                </a:solidFill>
              </a:rPr>
              <a:t>&lt; 24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9188" y="1344168"/>
            <a:ext cx="211912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77"/>
                </a:solidFill>
              </a:rPr>
              <a:t>après début</a:t>
            </a:r>
          </a:p>
          <a:p>
            <a:pPr algn="ctr"/>
            <a:r>
              <a:rPr sz="700" b="0" i="0">
                <a:solidFill>
                  <a:srgbClr val="556677"/>
                </a:solidFill>
              </a:rPr>
              <a:t>de 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93758" y="594360"/>
            <a:ext cx="2210562" cy="1261872"/>
          </a:xfrm>
          <a:prstGeom prst="roundRect">
            <a:avLst/>
          </a:prstGeom>
          <a:solidFill>
            <a:srgbClr val="FFF8EC"/>
          </a:solidFill>
          <a:ln w="1524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39478" y="667512"/>
            <a:ext cx="211912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D47B00"/>
                </a:solidFill>
              </a:rPr>
              <a:t>Rollback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9478" y="914400"/>
            <a:ext cx="211912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43B5E"/>
                </a:solidFill>
              </a:rPr>
              <a:t>&lt; 2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9478" y="1344168"/>
            <a:ext cx="211912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56677"/>
                </a:solidFill>
              </a:rPr>
              <a:t>retour version</a:t>
            </a:r>
          </a:p>
          <a:p>
            <a:pPr algn="ctr"/>
            <a:r>
              <a:rPr sz="700" b="0" i="0">
                <a:solidFill>
                  <a:srgbClr val="556677"/>
                </a:solidFill>
              </a:rPr>
              <a:t>précédente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9904" y="1892807"/>
            <a:ext cx="0" cy="256032"/>
          </a:xfrm>
          <a:prstGeom prst="line">
            <a:avLst/>
          </a:prstGeom>
          <a:ln w="25400">
            <a:solidFill>
              <a:srgbClr val="D47B0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00400" y="1920239"/>
            <a:ext cx="5760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D47B00"/>
                </a:solidFill>
              </a:rPr>
              <a:t>ses exigences ont dicté les choix techniques 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1956815"/>
            <a:ext cx="11887200" cy="219456"/>
          </a:xfrm>
          <a:prstGeom prst="rect">
            <a:avLst/>
          </a:prstGeom>
          <a:solidFill>
            <a:srgbClr val="1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1965959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COUCHE 2 — PLATEFORME MLOps   ·   construite et opérée par Léon DORE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" y="2203703"/>
            <a:ext cx="2234793" cy="1874519"/>
          </a:xfrm>
          <a:prstGeom prst="roundRect">
            <a:avLst/>
          </a:prstGeom>
          <a:solidFill>
            <a:srgbClr val="1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Data ONISR</a:t>
            </a:r>
          </a:p>
          <a:p>
            <a:pPr algn="ctr"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</a:rPr>
              <a:t>── ──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2021→2024</a:t>
            </a:r>
          </a:p>
          <a:p>
            <a:pPr algn="ctr">
              <a:spcBef>
                <a:spcPts val="0"/>
              </a:spcBef>
            </a:pPr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~200k
accidents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71953" y="3140963"/>
            <a:ext cx="109728" cy="0"/>
          </a:xfrm>
          <a:prstGeom prst="line">
            <a:avLst/>
          </a:prstGeom>
          <a:ln w="19050">
            <a:solidFill>
              <a:srgbClr val="FFFF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81681" y="2203703"/>
            <a:ext cx="2234793" cy="1874519"/>
          </a:xfrm>
          <a:prstGeom prst="roundRect">
            <a:avLst/>
          </a:prstGeom>
          <a:solidFill>
            <a:srgbClr val="1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Pipeline MLOps</a:t>
            </a:r>
          </a:p>
          <a:p>
            <a:pPr algn="ctr"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</a:rPr>
              <a:t>── ──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GitHub Actions
CI/CD</a:t>
            </a:r>
          </a:p>
          <a:p>
            <a:pPr algn="ctr">
              <a:spcBef>
                <a:spcPts val="0"/>
              </a:spcBef>
            </a:pPr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MLflow Tracking
DVC Versioning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16475" y="3140963"/>
            <a:ext cx="109728" cy="0"/>
          </a:xfrm>
          <a:prstGeom prst="line">
            <a:avLst/>
          </a:prstGeom>
          <a:ln w="19050">
            <a:solidFill>
              <a:srgbClr val="FFFF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826203" y="2203703"/>
            <a:ext cx="2234793" cy="1874519"/>
          </a:xfrm>
          <a:prstGeom prst="roundRect">
            <a:avLst/>
          </a:prstGeom>
          <a:solidFill>
            <a:srgbClr val="14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Registre MLflow</a:t>
            </a:r>
          </a:p>
          <a:p>
            <a:pPr algn="ctr"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</a:rPr>
              <a:t>── ──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Évaluation
champion</a:t>
            </a:r>
          </a:p>
          <a:p>
            <a:pPr algn="ctr">
              <a:spcBef>
                <a:spcPts val="0"/>
              </a:spcBef>
            </a:pPr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@Production
(1 modèle / UC)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060996" y="3140963"/>
            <a:ext cx="109728" cy="0"/>
          </a:xfrm>
          <a:prstGeom prst="line">
            <a:avLst/>
          </a:prstGeom>
          <a:ln w="19050">
            <a:solidFill>
              <a:srgbClr val="FFFF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170724" y="2203703"/>
            <a:ext cx="2234793" cy="1874519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APIs Cloud</a:t>
            </a:r>
          </a:p>
          <a:p>
            <a:pPr algn="ctr"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</a:rPr>
              <a:t>── ──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FastAPI
/predict</a:t>
            </a:r>
          </a:p>
          <a:p>
            <a:pPr algn="ctr">
              <a:spcBef>
                <a:spcPts val="0"/>
              </a:spcBef>
            </a:pPr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Gradio
Simulateur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05518" y="3140963"/>
            <a:ext cx="109728" cy="0"/>
          </a:xfrm>
          <a:prstGeom prst="line">
            <a:avLst/>
          </a:prstGeom>
          <a:ln w="19050">
            <a:solidFill>
              <a:srgbClr val="FFFF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15246" y="2203703"/>
            <a:ext cx="2234793" cy="1874519"/>
          </a:xfrm>
          <a:prstGeom prst="roundRect">
            <a:avLst/>
          </a:prstGeom>
          <a:solidFill>
            <a:srgbClr val="1A6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Monitoring</a:t>
            </a:r>
          </a:p>
          <a:p>
            <a:pPr algn="ctr"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</a:rPr>
              <a:t>── ──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Prometheus
Grafana</a:t>
            </a:r>
          </a:p>
          <a:p>
            <a:pPr algn="ctr">
              <a:spcBef>
                <a:spcPts val="0"/>
              </a:spcBef>
            </a:pPr>
            <a:r>
              <a:rPr sz="300" b="0">
                <a:solidFill>
                  <a:srgbClr val="FFFFFF"/>
                </a:solidFill>
              </a:rPr>
              <a:t/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Evidently
Drift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89904" y="4114799"/>
            <a:ext cx="0" cy="256032"/>
          </a:xfrm>
          <a:prstGeom prst="line">
            <a:avLst/>
          </a:prstGeom>
          <a:ln w="25400">
            <a:solidFill>
              <a:srgbClr val="2E86AB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560320" y="4142231"/>
            <a:ext cx="6858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2E86AB"/>
                </a:solidFill>
              </a:rPr>
              <a:t>↓  valeur démontrée sur 3 use cases concrets  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" y="4178807"/>
            <a:ext cx="11887200" cy="21945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4187951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COUCHE 3 — VALEUR DÉMONTRÉE   ·   3 use cases prouvant que la plateforme tient ses promesses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7160" y="4425695"/>
            <a:ext cx="3797808" cy="13258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UC 1 — Prédiction gravité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FastAPI /predict</a:t>
            </a:r>
          </a:p>
          <a:p>
            <a:pPr algn="ctr">
              <a:spcBef>
                <a:spcPts val="0"/>
              </a:spcBef>
            </a:pPr>
            <a:r>
              <a:rPr sz="500" b="0">
                <a:solidFill>
                  <a:srgbClr val="FFFFFF"/>
                </a:solidFill>
              </a:rPr>
              <a:t>──</a:t>
            </a:r>
          </a:p>
          <a:p>
            <a:pPr algn="ctr"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</a:rPr>
              <a:t>Lucas MARTIN</a:t>
            </a:r>
          </a:p>
          <a:p>
            <a:pPr algn="ctr">
              <a:spcBef>
                <a:spcPts val="0"/>
              </a:spcBef>
            </a:pPr>
            <a:r>
              <a:rPr sz="750" b="0">
                <a:solidFill>
                  <a:srgbClr val="FFFFFF"/>
                </a:solidFill>
              </a:rPr>
              <a:t>Opérateur secours
SDIS / Préfecture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044696" y="4425695"/>
            <a:ext cx="3797808" cy="13258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UC 2 — Scénarios What-If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Gradio Tab 1</a:t>
            </a:r>
          </a:p>
          <a:p>
            <a:pPr algn="ctr">
              <a:spcBef>
                <a:spcPts val="0"/>
              </a:spcBef>
            </a:pPr>
            <a:r>
              <a:rPr sz="500" b="0">
                <a:solidFill>
                  <a:srgbClr val="FFFFFF"/>
                </a:solidFill>
              </a:rPr>
              <a:t>──</a:t>
            </a:r>
          </a:p>
          <a:p>
            <a:pPr algn="ctr"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</a:rPr>
              <a:t>Sylvie FERRAND</a:t>
            </a:r>
          </a:p>
          <a:p>
            <a:pPr algn="ctr">
              <a:spcBef>
                <a:spcPts val="0"/>
              </a:spcBef>
            </a:pPr>
            <a:r>
              <a:rPr sz="750" b="0">
                <a:solidFill>
                  <a:srgbClr val="FFFFFF"/>
                </a:solidFill>
              </a:rPr>
              <a:t>Bison Futé
Analyste ONISR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52232" y="4425695"/>
            <a:ext cx="3797808" cy="13258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950" b="1">
                <a:solidFill>
                  <a:srgbClr val="FFFFFF"/>
                </a:solidFill>
              </a:rPr>
              <a:t>UC 3 — Points Noirs</a:t>
            </a:r>
          </a:p>
          <a:p>
            <a:pPr algn="ctr">
              <a:spcBef>
                <a:spcPts val="0"/>
              </a:spcBef>
            </a:pPr>
            <a:r>
              <a:rPr sz="800" b="0">
                <a:solidFill>
                  <a:srgbClr val="FFFFFF"/>
                </a:solidFill>
              </a:rPr>
              <a:t>Gradio Tab 2</a:t>
            </a:r>
          </a:p>
          <a:p>
            <a:pPr algn="ctr">
              <a:spcBef>
                <a:spcPts val="0"/>
              </a:spcBef>
            </a:pPr>
            <a:r>
              <a:rPr sz="500" b="0">
                <a:solidFill>
                  <a:srgbClr val="FFFFFF"/>
                </a:solidFill>
              </a:rPr>
              <a:t>──</a:t>
            </a:r>
          </a:p>
          <a:p>
            <a:pPr algn="ctr">
              <a:spcBef>
                <a:spcPts val="0"/>
              </a:spcBef>
            </a:pPr>
            <a:r>
              <a:rPr sz="900" b="1">
                <a:solidFill>
                  <a:srgbClr val="FFFFFF"/>
                </a:solidFill>
              </a:rPr>
              <a:t>Marc DURAND</a:t>
            </a:r>
          </a:p>
          <a:p>
            <a:pPr algn="ctr">
              <a:spcBef>
                <a:spcPts val="0"/>
              </a:spcBef>
            </a:pPr>
            <a:r>
              <a:rPr sz="750" b="0">
                <a:solidFill>
                  <a:srgbClr val="FFFFFF"/>
                </a:solidFill>
              </a:rPr>
              <a:t>Géo Trouvetou
Géomaticien CEREMA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37160" y="5861303"/>
            <a:ext cx="11887200" cy="274320"/>
          </a:xfrm>
          <a:prstGeom prst="rect">
            <a:avLst/>
          </a:prstGeom>
          <a:solidFill>
            <a:srgbClr val="E4F5EA"/>
          </a:solidFill>
          <a:ln w="9525">
            <a:solidFill>
              <a:srgbClr val="1A7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8600" y="5897879"/>
            <a:ext cx="1170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7A45"/>
                </a:solidFill>
              </a:rPr>
              <a:t>⟵  Monitoring Drift (Evidently + Prometheus)  ·  alerte Léon DORE  ·  retrigger pipeline  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