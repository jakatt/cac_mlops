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96" r:id="rId2"/>
    <p:sldId id="452" r:id="rId3"/>
    <p:sldId id="465" r:id="rId4"/>
    <p:sldId id="469" r:id="rId5"/>
    <p:sldId id="301" r:id="rId6"/>
    <p:sldId id="467" r:id="rId7"/>
    <p:sldId id="461" r:id="rId8"/>
    <p:sldId id="460" r:id="rId9"/>
    <p:sldId id="462" r:id="rId10"/>
    <p:sldId id="440" r:id="rId11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E66753-C483-0EFE-BDA3-AB18142F8937}" name="jacques cattelin" initials="jc" userId="2a258d10d58e295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BE4"/>
    <a:srgbClr val="163E64"/>
    <a:srgbClr val="0F9ED5"/>
    <a:srgbClr val="73FEFF"/>
    <a:srgbClr val="74ABCC"/>
    <a:srgbClr val="C8E2EB"/>
    <a:srgbClr val="D9E9F0"/>
    <a:srgbClr val="CFE7F0"/>
    <a:srgbClr val="7ED3E5"/>
    <a:srgbClr val="DBF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445"/>
    <p:restoredTop sz="93217"/>
  </p:normalViewPr>
  <p:slideViewPr>
    <p:cSldViewPr snapToGrid="0">
      <p:cViewPr>
        <p:scale>
          <a:sx n="140" d="100"/>
          <a:sy n="140" d="100"/>
        </p:scale>
        <p:origin x="2560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3" d="100"/>
          <a:sy n="133" d="100"/>
        </p:scale>
        <p:origin x="16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BE59-6A9E-9E42-AC36-1D46F1B9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D8715-D6C1-930B-DC4A-33A1D7812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607DE-94D1-CB76-9985-55F9B25E9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7B595-EEA4-A088-02DC-01B849A49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38045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AE8D-DB7D-4DD6-D1EF-02DD2904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2325A-D1F0-39CC-BC35-F379272B2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B9553-EE2F-FAA4-7537-93DCD697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975FC-6091-AFED-0E63-AF6C769EF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9477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F8AF-09E4-B152-AAF8-D8F7E13C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84255-36F3-974E-752B-DF05BFDA3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4FAE5-CD85-1DC0-BB19-D6152CEB5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1D03A-52B1-3571-F97E-F4D7235C5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33416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194C-265D-4DDB-ABAA-5A874CBB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1D87B-D72E-003C-EC02-1FF812115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1AB2E-48AC-E7F8-D30B-961226550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BD990-7E44-5BD1-5D55-1CACA23D4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22666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F0A0E-1190-9262-A416-6D4EB0EC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1027E-0555-851E-09E4-52E6E8C90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36F0C-BEDF-0A63-54F4-278966A0A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1BECD-0A1E-054C-B7D0-49E4B4CB1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3434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A11B-488F-9419-E94F-42AAFD62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873E7-F0CA-B2EE-249E-ECD03D0D8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EEF11-277C-B4C0-ADF1-709B2294F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CB60C-BD8B-1E26-3204-3874D25B1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80751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F8E8-FF66-3E31-EC4F-6803324A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5A2E5-2CB4-0F33-F5BB-502F6A4E9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66D56-9D9C-A3F3-7349-50C35891C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</a:t>
            </a:r>
          </a:p>
          <a:p>
            <a:r>
              <a:rPr lang="en-F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”Sécurité est organisée en 4 couches indépendantes — si l'une est contournée, les autres tiennent."</a:t>
            </a:r>
          </a:p>
          <a:p>
            <a:endParaRPr lang="en-FR" sz="800" dirty="0"/>
          </a:p>
          <a:p>
            <a:r>
              <a:rPr lang="en-F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3 points</a:t>
            </a:r>
          </a:p>
          <a:p>
            <a:r>
              <a:rPr lang="en-F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Pourquoi DÉTECTION est en pointillés</a:t>
            </a:r>
            <a:endParaRPr lang="en-F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F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"DÉTECTION n'est pas une barrière — elle ne bloque rien. Elle observe tout ce qui se passe à l'intérieur de toutes les couches et déclenche des alertes. D'où le contour pointillé : c'est une enveloppe de surveillance, pas de filtrage."</a:t>
            </a:r>
          </a:p>
          <a:p>
            <a:r>
              <a:rPr lang="en-F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Pourquoi les deux flèches entrent à des niveaux différents</a:t>
            </a:r>
            <a:endParaRPr lang="en-F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F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 utilisateur public arrive forcément par Internet via HTTPS — il doit passer par PROTECTION : Caddy chiffre, Nginx route, JWT authentifie. Un administrateur arrive par Tailscale — réseau WireGuard chiffré — et bypasse PROTECTION complètement. Il entre directement au niveau ISOLATION, où UFW autorise le trafic Tailscale. C'est voulu : l'admin n'a pas besoin de passer par la porte publique."</a:t>
            </a:r>
          </a:p>
          <a:p>
            <a:r>
              <a:rPr lang="en-F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Ce que fait chaque couche</a:t>
            </a:r>
            <a:endParaRPr lang="en-F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F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"PRÉVENTION agit avant le déploiement — on ne laisse pas entrer de code vulnérable. PROTECTION filtre ce qui entre depuis internet. ISOLATION segmente le réseau — Docker a un comportement connu qui bypass UFW, on le neutralise en bindant nginx à localhost. DÉTECTION surveille en temps réel et alerte si quelque chose d'anormal se produit."</a:t>
            </a:r>
            <a:br>
              <a:rPr lang="en-FR" sz="800" dirty="0"/>
            </a:br>
            <a:endParaRPr lang="en-FR" sz="800" dirty="0"/>
          </a:p>
          <a:p>
            <a:r>
              <a:rPr lang="en-F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(si le jury demande "et si une couche est compromise ?")</a:t>
            </a:r>
            <a:endParaRPr lang="en-F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F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"C'est le principe de défense en profondeur — chaque couche suppose que la précédente peut échouer. Un attaquant qui passerait PROTECTION trouverait encore ISOLATION, puis DÉTECTION qui loggue et alerte."</a:t>
            </a:r>
          </a:p>
          <a:p>
            <a:endParaRPr lang="en-FR" sz="800" b="1" dirty="0"/>
          </a:p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4E195-01AF-E1FE-ED89-C9C0B4255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1EC3C-577A-1D44-95AE-A38A75DB3BB9}" type="slidenum">
              <a:rPr lang="en-FR" smtClean="0"/>
              <a:t>10</a:t>
            </a:fld>
            <a:endParaRPr lang="en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49850-295F-EEFE-44E3-AD039C19B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72" y="6986847"/>
            <a:ext cx="3141541" cy="202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07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BC9E-201F-D373-2813-BB2D91D11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18115-71EF-28EB-155B-6C0073AD8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A8626-C4AF-54F7-E557-40939EDC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E486-94BB-C5CA-58FE-BB3CDC0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5CF7-7BB8-2686-219C-76996ACF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3263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5215-F28A-A073-9FF0-4B9FA94B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573D-0934-4B4E-437A-B7FF17C61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07E2F-DFF6-2E51-3EDB-9025D3A6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B9F8A-F822-8091-7DBD-2AE118AE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6257C-91B9-5DB0-95DE-78EB62ED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9130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98F9-A916-3063-8F2D-C2036BFF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63B5A-11DA-373D-EEE8-5181C6BBB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4D2FA-D576-AA75-3881-57397B76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F3B13-3CAF-072C-071F-37BE83CD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39244-6362-5407-0A41-40EFB660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9365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0DAF-4F16-59EF-AC93-91E56D08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067B-77F9-E736-6998-8FB405214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8302C-D59E-5EE7-8A2D-DC1F0CF3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B4BB5-939C-87B3-2437-72DB4830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90702-FA0F-79D8-AD8B-608E08C8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FC670-BD8F-CBB6-7936-F0A7683A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1965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A66A-F511-E244-F15E-325D0A80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9C3F2-A465-AFD3-B3C1-AAFDA7053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68279-DEA6-C629-533F-6B056AEE3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BCCAD-D94E-0004-CD7C-2A1A4E890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D3504-F21B-1238-3A4E-FD5C30734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3897A5-E57A-AD39-49CD-37C60761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431ED-B6D6-63D8-73FF-3B5D74F2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F281C-F483-153A-4BEC-2F69211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4781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3AFD-E657-A3E1-15B6-AC43BECD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07964-20C2-95B7-65F5-8E580430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2D1ED-2D39-3C8C-CE04-BF74EB54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32702-D1C4-CD4F-6BB3-DE21D5FC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9698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30DC2-9C50-4F2A-945D-4E54EE4F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1134B-5063-2586-C6E3-B97D7DA7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F0903-EF3F-C3A1-7B8E-7D721518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0437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E358-DAFC-34FF-C035-D9129D51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17AD-1C00-2E4E-B21D-2ECF3D128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61C73-7AE4-B935-4FC5-386772900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FFBD2-2DEA-18B2-040B-396F47E6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33223-B213-BE00-FDD2-095CA850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28F87-0CEA-9F2B-45FA-4425BE58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8907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28A99-C1CF-3D3F-CCE5-C89F0F05D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8C807-4607-43DD-6FEF-0216D1119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24CE3-2A47-DF02-8C9A-04973C1A6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46CA8-A406-FD86-A79B-65A969EC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12374-C43C-A83B-65F8-13205B09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FBCDE-DDF7-D8CB-88A5-985325E1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365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6DC8-6B89-507C-DE58-FDAA8665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AF2C5-F27A-4B18-B92E-BD9D42073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049F-732C-9A51-E4A9-FFCDF1BF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D299F-DA93-1805-7EE0-98C11141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A384E-F6E0-246A-2707-F88E702D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6469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484D9-62D9-966C-84FC-6F3FA1266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499E7-788B-91F7-DDC1-BA84F4C62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82742-9843-2C96-7447-C46FE5A4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AAE28-0240-21FB-B474-A29F1C83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EEE6-BD00-44F3-9948-6BBBB39E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6900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37496-AB16-BB2B-28AD-E45DE5D5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A1812-84CF-8F1B-3057-68DAD56AE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BF57F-5EB6-E78B-2D40-AE2436C02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82790-F81A-D14A-8667-512CC585A4F2}" type="datetimeFigureOut">
              <a:rPr lang="en-FR" smtClean="0"/>
              <a:t>26/09/2026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0CD6-AF69-0CAF-DEAD-963AC3481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BCE4A-E894-15D9-87AB-14FB1A46C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57F52-AEDA-6840-AB50-8A6DE545B87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7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kapsule.jakat-inc.fr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hyperlink" Target="http://100.117.99.62:7860/" TargetMode="External"/><Relationship Id="rId17" Type="http://schemas.openxmlformats.org/officeDocument/2006/relationships/hyperlink" Target="https://mlops.jakat-inc.fr/docs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kapsule.jakat-inc.fr/doc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openxmlformats.org/officeDocument/2006/relationships/image" Target="../media/image3.svg"/><Relationship Id="rId15" Type="http://schemas.openxmlformats.org/officeDocument/2006/relationships/image" Target="../media/image9.png"/><Relationship Id="rId10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microsoft.com/office/2007/relationships/hdphoto" Target="../media/hdphoto1.wdp"/><Relationship Id="rId14" Type="http://schemas.openxmlformats.org/officeDocument/2006/relationships/hyperlink" Target="https://mlops.jakat-inc.fr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mlops.jakat-inc.fr/ci-docs/etl_catalogue.html" TargetMode="External"/><Relationship Id="rId13" Type="http://schemas.openxmlformats.org/officeDocument/2006/relationships/hyperlink" Target="https://mlops.jakat-inc.fr/ci-docs/training.html" TargetMode="External"/><Relationship Id="rId18" Type="http://schemas.openxmlformats.org/officeDocument/2006/relationships/hyperlink" Target="https://github.com/jakatt/cac_mlops/pull/217" TargetMode="External"/><Relationship Id="rId3" Type="http://schemas.openxmlformats.org/officeDocument/2006/relationships/image" Target="../media/image10.svg"/><Relationship Id="rId7" Type="http://schemas.openxmlformats.org/officeDocument/2006/relationships/hyperlink" Target="https://mlops.jakat-inc.fr/ci-docs/tests_catalogue.html" TargetMode="External"/><Relationship Id="rId12" Type="http://schemas.openxmlformats.org/officeDocument/2006/relationships/slide" Target="slide7.xml"/><Relationship Id="rId17" Type="http://schemas.openxmlformats.org/officeDocument/2006/relationships/hyperlink" Target="https://github.com/jakatt/cac_mlops/pull/266" TargetMode="External"/><Relationship Id="rId2" Type="http://schemas.openxmlformats.org/officeDocument/2006/relationships/notesSlide" Target="../notesSlides/notesSlide3.xml"/><Relationship Id="rId16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3.svg"/><Relationship Id="rId5" Type="http://schemas.openxmlformats.org/officeDocument/2006/relationships/image" Target="../media/image5.png"/><Relationship Id="rId15" Type="http://schemas.openxmlformats.org/officeDocument/2006/relationships/slide" Target="slide8.xml"/><Relationship Id="rId10" Type="http://schemas.openxmlformats.org/officeDocument/2006/relationships/hyperlink" Target="https://mlops.jakat-inc.fr/ci-docs/data_dictionary.html" TargetMode="External"/><Relationship Id="rId19" Type="http://schemas.openxmlformats.org/officeDocument/2006/relationships/hyperlink" Target="https://mlops.jakat-inc.fr/ci-docs/flux_mlops.html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console.scaleway.com/instance/fr-par-2/servers/1cc5d47e-22b9-435e-af4c-3e50758bb873/overview" TargetMode="External"/><Relationship Id="rId14" Type="http://schemas.openxmlformats.org/officeDocument/2006/relationships/hyperlink" Target="https://console.scaleway.com/kubernetes/fr-par/clusters/efc7564c-530a-476a-a50e-091c18bb6177/pool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100.117.99.62:5001/" TargetMode="External"/><Relationship Id="rId13" Type="http://schemas.openxmlformats.org/officeDocument/2006/relationships/hyperlink" Target="http://100.117.99.62:9090/query?g0.expr=histogram_quantile%280.95%2C%20sum%20by%20%28le%29%20%28rate%28api_request_duration_seconds_bucket%5B5m%5D%29%29%29&amp;g0.tab=graph&amp;g0.range_input=1d" TargetMode="External"/><Relationship Id="rId18" Type="http://schemas.openxmlformats.org/officeDocument/2006/relationships/hyperlink" Target="https://github.com/jakatt/cac_mlops/pulls" TargetMode="External"/><Relationship Id="rId3" Type="http://schemas.openxmlformats.org/officeDocument/2006/relationships/hyperlink" Target="https://console.scaleway.com/kubernetes/fr-par/clusters" TargetMode="External"/><Relationship Id="rId21" Type="http://schemas.openxmlformats.org/officeDocument/2006/relationships/slide" Target="slide8.xml"/><Relationship Id="rId7" Type="http://schemas.openxmlformats.org/officeDocument/2006/relationships/hyperlink" Target="https://github.com/jakatt/cac_mlops" TargetMode="External"/><Relationship Id="rId12" Type="http://schemas.openxmlformats.org/officeDocument/2006/relationships/hyperlink" Target="http://100.117.99.62:3000/?orgId=1&amp;from=now-24h&amp;to=now&amp;timezone=browser&amp;refresh=30s" TargetMode="External"/><Relationship Id="rId17" Type="http://schemas.openxmlformats.org/officeDocument/2006/relationships/hyperlink" Target="https://mlops.jakat-inc.fr/docs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mlops.jakat-inc.fr/" TargetMode="Externa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hyperlink" Target="http://100.117.99.62:9090/query?g0.expr=sum%20by%20%28traffic%29%20%28rate%28api_requests_total%5B5m%5D%29%29&amp;g0.tab=graph&amp;g0.range_input=1d" TargetMode="External"/><Relationship Id="rId5" Type="http://schemas.openxmlformats.org/officeDocument/2006/relationships/hyperlink" Target="http://100.117.99.62:4200/v2/runs/flow-run/5df047c4-b7dd-43e8-b182-4cd1cdfba010?tab=Logs" TargetMode="External"/><Relationship Id="rId15" Type="http://schemas.openxmlformats.org/officeDocument/2006/relationships/hyperlink" Target="https://kapsule.jakat-inc.fr/" TargetMode="External"/><Relationship Id="rId10" Type="http://schemas.openxmlformats.org/officeDocument/2006/relationships/hyperlink" Target="http://100.117.99.62:7860/" TargetMode="External"/><Relationship Id="rId19" Type="http://schemas.openxmlformats.org/officeDocument/2006/relationships/hyperlink" Target="https://console.scaleway.com/organization/overview" TargetMode="External"/><Relationship Id="rId4" Type="http://schemas.openxmlformats.org/officeDocument/2006/relationships/hyperlink" Target="https://mlops.jakat-inc.fr/ci-docs/tests_catalogue.html" TargetMode="External"/><Relationship Id="rId9" Type="http://schemas.openxmlformats.org/officeDocument/2006/relationships/hyperlink" Target="http://100.117.99.62:4200/v2/runs/flow-run/99d961aa-ecaf-4d4d-b580-63c5be5065f9?tab=Logs" TargetMode="External"/><Relationship Id="rId14" Type="http://schemas.openxmlformats.org/officeDocument/2006/relationships/hyperlink" Target="https://kapsule.jakat-inc.fr/doc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hyperlink" Target="https://mlops.jakat-inc.fr/docs" TargetMode="External"/><Relationship Id="rId5" Type="http://schemas.openxmlformats.org/officeDocument/2006/relationships/image" Target="../media/image12.sv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jakatt/cac_mlops/pull/266" TargetMode="External"/><Relationship Id="rId4" Type="http://schemas.openxmlformats.org/officeDocument/2006/relationships/hyperlink" Target="https://github.com/jakatt/cac_mlops/commit/c285b40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jakatt/cac_mlops/pull/217" TargetMode="External"/><Relationship Id="rId4" Type="http://schemas.openxmlformats.org/officeDocument/2006/relationships/hyperlink" Target="https://github.com/jakatt/cac_mlops/commit/39a4ed7309a6ec6a3976a3c8595b78306801228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B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4B0B0-947E-7DE9-1C7D-20847A95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40E6853-AB2B-5B48-77E2-C86C1061D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238032"/>
            <a:ext cx="9611581" cy="2558305"/>
          </a:xfrm>
        </p:spPr>
        <p:txBody>
          <a:bodyPr anchor="b">
            <a:normAutofit/>
          </a:bodyPr>
          <a:lstStyle/>
          <a:p>
            <a:pPr algn="l"/>
            <a:r>
              <a:rPr lang="en-FR" sz="5400">
                <a:solidFill>
                  <a:schemeClr val="tx2"/>
                </a:solidFill>
              </a:rPr>
              <a:t>MLOps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344BF5F-273B-BBD6-CF31-A4B5916AD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5769131" cy="2244609"/>
          </a:xfrm>
        </p:spPr>
        <p:txBody>
          <a:bodyPr anchor="t">
            <a:normAutofit/>
          </a:bodyPr>
          <a:lstStyle/>
          <a:p>
            <a:pPr algn="l"/>
            <a:r>
              <a:rPr lang="en-FR" sz="2000">
                <a:solidFill>
                  <a:schemeClr val="tx2"/>
                </a:solidFill>
              </a:rPr>
              <a:t>Accidents de la route en France</a:t>
            </a:r>
          </a:p>
          <a:p>
            <a:pPr algn="l"/>
            <a:r>
              <a:rPr lang="en-GB" sz="1000" dirty="0">
                <a:solidFill>
                  <a:schemeClr val="tx2"/>
                </a:solidFill>
              </a:rPr>
              <a:t>#mar25_cmle_accident</a:t>
            </a:r>
            <a:endParaRPr lang="en-FR" sz="1000">
              <a:solidFill>
                <a:schemeClr val="tx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DFF3FC-2F68-A666-3EEE-6BCE1D2682D7}"/>
              </a:ext>
            </a:extLst>
          </p:cNvPr>
          <p:cNvCxnSpPr>
            <a:cxnSpLocks/>
          </p:cNvCxnSpPr>
          <p:nvPr/>
        </p:nvCxnSpPr>
        <p:spPr>
          <a:xfrm>
            <a:off x="817123" y="6527261"/>
            <a:ext cx="10817158" cy="0"/>
          </a:xfrm>
          <a:prstGeom prst="line">
            <a:avLst/>
          </a:prstGeom>
          <a:ln>
            <a:solidFill>
              <a:srgbClr val="163E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DA8AEA-036F-63B7-EA92-1A793865FCAF}"/>
              </a:ext>
            </a:extLst>
          </p:cNvPr>
          <p:cNvCxnSpPr/>
          <p:nvPr/>
        </p:nvCxnSpPr>
        <p:spPr>
          <a:xfrm flipV="1">
            <a:off x="732567" y="246028"/>
            <a:ext cx="255496" cy="546559"/>
          </a:xfrm>
          <a:prstGeom prst="line">
            <a:avLst/>
          </a:prstGeom>
          <a:ln>
            <a:solidFill>
              <a:srgbClr val="163E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71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788B-EB37-B9A2-397D-405F05E4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Arrow 34">
            <a:extLst>
              <a:ext uri="{FF2B5EF4-FFF2-40B4-BE49-F238E27FC236}">
                <a16:creationId xmlns:a16="http://schemas.microsoft.com/office/drawing/2014/main" id="{F79E701E-0D28-346B-9367-099E5A390E95}"/>
              </a:ext>
            </a:extLst>
          </p:cNvPr>
          <p:cNvSpPr/>
          <p:nvPr/>
        </p:nvSpPr>
        <p:spPr>
          <a:xfrm>
            <a:off x="624054" y="1360757"/>
            <a:ext cx="8697746" cy="5371079"/>
          </a:xfrm>
          <a:prstGeom prst="rightArrow">
            <a:avLst>
              <a:gd name="adj1" fmla="val 67970"/>
              <a:gd name="adj2" fmla="val 54855"/>
            </a:avLst>
          </a:prstGeom>
          <a:pattFill prst="pct70">
            <a:fgClr>
              <a:schemeClr val="bg2">
                <a:lumMod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4CC555-79A2-7F21-E51B-38616D578DD0}"/>
              </a:ext>
            </a:extLst>
          </p:cNvPr>
          <p:cNvSpPr/>
          <p:nvPr/>
        </p:nvSpPr>
        <p:spPr>
          <a:xfrm>
            <a:off x="7840367" y="4985761"/>
            <a:ext cx="4351633" cy="906405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tIns="144000" rtlCol="0" anchor="t"/>
          <a:lstStyle/>
          <a:p>
            <a:r>
              <a:rPr lang="fr-FR" sz="1400" b="1" dirty="0">
                <a:solidFill>
                  <a:schemeClr val="accent1"/>
                </a:solidFill>
              </a:rPr>
              <a:t>OBJECTIF</a:t>
            </a:r>
          </a:p>
          <a:p>
            <a:r>
              <a:rPr lang="fr-FR" sz="1400" dirty="0">
                <a:solidFill>
                  <a:schemeClr val="accent1"/>
                </a:solidFill>
              </a:rPr>
              <a:t>Avoir une application fiable et toujours disponible pour Julie</a:t>
            </a:r>
          </a:p>
        </p:txBody>
      </p:sp>
      <p:pic>
        <p:nvPicPr>
          <p:cNvPr id="9" name="Picture 8" descr="A cartoon of a person&#10;&#10;AI-generated content may be incorrect.">
            <a:extLst>
              <a:ext uri="{FF2B5EF4-FFF2-40B4-BE49-F238E27FC236}">
                <a16:creationId xmlns:a16="http://schemas.microsoft.com/office/drawing/2014/main" id="{65435DDE-474C-12B9-0A76-B8A14D316C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594094" y="3711205"/>
            <a:ext cx="713041" cy="691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E072A5-2C67-84BB-5CF2-25DDD0D66DCA}"/>
              </a:ext>
            </a:extLst>
          </p:cNvPr>
          <p:cNvSpPr txBox="1"/>
          <p:nvPr/>
        </p:nvSpPr>
        <p:spPr>
          <a:xfrm>
            <a:off x="4514027" y="126164"/>
            <a:ext cx="1187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/>
              <a:t>Léon</a:t>
            </a:r>
            <a:br>
              <a:rPr lang="en-FR" sz="1200"/>
            </a:br>
            <a:r>
              <a:rPr lang="en-FR" sz="1200"/>
              <a:t>MLOPs lead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FB73EE-1ED8-BD1A-535C-5813D2A9AC66}"/>
              </a:ext>
            </a:extLst>
          </p:cNvPr>
          <p:cNvSpPr/>
          <p:nvPr/>
        </p:nvSpPr>
        <p:spPr>
          <a:xfrm>
            <a:off x="0" y="-1"/>
            <a:ext cx="12192000" cy="1271752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CD06E-EB3E-40C6-EEC1-DAD3F6AA18A8}"/>
              </a:ext>
            </a:extLst>
          </p:cNvPr>
          <p:cNvSpPr txBox="1"/>
          <p:nvPr/>
        </p:nvSpPr>
        <p:spPr>
          <a:xfrm>
            <a:off x="0" y="440357"/>
            <a:ext cx="9590049" cy="646331"/>
          </a:xfrm>
          <a:prstGeom prst="rect">
            <a:avLst/>
          </a:prstGeom>
          <a:noFill/>
        </p:spPr>
        <p:txBody>
          <a:bodyPr wrap="square" lIns="288000">
            <a:spAutoFit/>
          </a:bodyPr>
          <a:lstStyle/>
          <a:p>
            <a:r>
              <a:rPr lang="en-FR" sz="2400" b="1" dirty="0">
                <a:solidFill>
                  <a:srgbClr val="156082"/>
                </a:solidFill>
              </a:rPr>
              <a:t>Vision produit &amp; Personas</a:t>
            </a:r>
            <a:br>
              <a:rPr lang="en-FR" sz="2400" b="1" dirty="0">
                <a:solidFill>
                  <a:srgbClr val="156082"/>
                </a:solidFill>
              </a:rPr>
            </a:br>
            <a:r>
              <a:rPr lang="en-FR" sz="1200" dirty="0">
                <a:solidFill>
                  <a:srgbClr val="156082"/>
                </a:solidFill>
              </a:rPr>
              <a:t>Fondamentaux de la solution #1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F4A1B-7DFF-3C56-F9EC-D2AF934DAC6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5754814" y="2212239"/>
            <a:ext cx="927586" cy="798956"/>
          </a:xfrm>
          <a:prstGeom prst="rect">
            <a:avLst/>
          </a:prstGeom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FB49FC9-666C-BEFD-F762-FA7199748454}"/>
              </a:ext>
            </a:extLst>
          </p:cNvPr>
          <p:cNvSpPr/>
          <p:nvPr/>
        </p:nvSpPr>
        <p:spPr>
          <a:xfrm>
            <a:off x="3647860" y="3374839"/>
            <a:ext cx="5141495" cy="136438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7BF34-2A3A-DA28-91EB-782B5CCB722B}"/>
              </a:ext>
            </a:extLst>
          </p:cNvPr>
          <p:cNvSpPr txBox="1"/>
          <p:nvPr/>
        </p:nvSpPr>
        <p:spPr>
          <a:xfrm rot="2546537">
            <a:off x="6785659" y="2251789"/>
            <a:ext cx="197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Chaîne MLOps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BA204EA4-D918-FD93-4AA6-6BD23A29EE01}"/>
              </a:ext>
            </a:extLst>
          </p:cNvPr>
          <p:cNvCxnSpPr>
            <a:cxnSpLocks/>
            <a:stCxn id="97" idx="3"/>
            <a:endCxn id="33" idx="0"/>
          </p:cNvCxnSpPr>
          <p:nvPr/>
        </p:nvCxnSpPr>
        <p:spPr>
          <a:xfrm>
            <a:off x="2730924" y="2609673"/>
            <a:ext cx="1541854" cy="770805"/>
          </a:xfrm>
          <a:prstGeom prst="curvedConnector2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E34669D-209F-AD14-785C-EA5B4ED9B3A3}"/>
              </a:ext>
            </a:extLst>
          </p:cNvPr>
          <p:cNvSpPr/>
          <p:nvPr/>
        </p:nvSpPr>
        <p:spPr>
          <a:xfrm>
            <a:off x="4028136" y="3380478"/>
            <a:ext cx="489284" cy="1358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0A51DD9E-8BEB-1B73-BC77-D93C3016E0B4}"/>
              </a:ext>
            </a:extLst>
          </p:cNvPr>
          <p:cNvCxnSpPr>
            <a:cxnSpLocks/>
            <a:stCxn id="99" idx="1"/>
            <a:endCxn id="33" idx="2"/>
          </p:cNvCxnSpPr>
          <p:nvPr/>
        </p:nvCxnSpPr>
        <p:spPr>
          <a:xfrm flipV="1">
            <a:off x="2693931" y="4739220"/>
            <a:ext cx="1578847" cy="780498"/>
          </a:xfrm>
          <a:prstGeom prst="curvedConnector2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Graphic 62" descr="Database with solid fill">
            <a:extLst>
              <a:ext uri="{FF2B5EF4-FFF2-40B4-BE49-F238E27FC236}">
                <a16:creationId xmlns:a16="http://schemas.microsoft.com/office/drawing/2014/main" id="{F00764E2-EDF9-7F09-481E-C1276C89A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3266" y="3655517"/>
            <a:ext cx="803025" cy="803025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5BDC4B4-15CC-3379-119D-E6DEDD904CD8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730924" y="4057030"/>
            <a:ext cx="916936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66D308A-0DD7-A8C3-312B-8ECF95BE94C0}"/>
              </a:ext>
            </a:extLst>
          </p:cNvPr>
          <p:cNvCxnSpPr>
            <a:cxnSpLocks/>
            <a:stCxn id="9" idx="3"/>
            <a:endCxn id="29" idx="3"/>
          </p:cNvCxnSpPr>
          <p:nvPr/>
        </p:nvCxnSpPr>
        <p:spPr>
          <a:xfrm flipH="1">
            <a:off x="8789355" y="4057030"/>
            <a:ext cx="804739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CF693E8-1B19-3AF9-0642-27F0D86D7041}"/>
              </a:ext>
            </a:extLst>
          </p:cNvPr>
          <p:cNvSpPr txBox="1"/>
          <p:nvPr/>
        </p:nvSpPr>
        <p:spPr>
          <a:xfrm>
            <a:off x="5609008" y="1838422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>
                <a:solidFill>
                  <a:schemeClr val="accent1"/>
                </a:solidFill>
              </a:rPr>
              <a:t>Léon</a:t>
            </a:r>
            <a:br>
              <a:rPr lang="en-FR" sz="1000">
                <a:solidFill>
                  <a:schemeClr val="accent1"/>
                </a:solidFill>
              </a:rPr>
            </a:br>
            <a:r>
              <a:rPr lang="en-FR" sz="800">
                <a:solidFill>
                  <a:schemeClr val="accent1"/>
                </a:solidFill>
              </a:rPr>
              <a:t>MLOps Lead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6F28CF-7594-8C9A-4A84-B5ABC2201D7D}"/>
              </a:ext>
            </a:extLst>
          </p:cNvPr>
          <p:cNvSpPr txBox="1"/>
          <p:nvPr/>
        </p:nvSpPr>
        <p:spPr>
          <a:xfrm>
            <a:off x="10141122" y="3810807"/>
            <a:ext cx="10866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chemeClr val="accent1"/>
                </a:solidFill>
              </a:rPr>
              <a:t>Julie</a:t>
            </a:r>
            <a:br>
              <a:rPr lang="en-FR" sz="1000" dirty="0">
                <a:solidFill>
                  <a:schemeClr val="accent1"/>
                </a:solidFill>
              </a:rPr>
            </a:br>
            <a:r>
              <a:rPr lang="en-FR" sz="800" dirty="0">
                <a:solidFill>
                  <a:schemeClr val="accent1"/>
                </a:solidFill>
              </a:rPr>
              <a:t>Analyste à la sécurité routière</a:t>
            </a:r>
          </a:p>
        </p:txBody>
      </p:sp>
      <p:sp>
        <p:nvSpPr>
          <p:cNvPr id="83" name="Right Brace 82">
            <a:extLst>
              <a:ext uri="{FF2B5EF4-FFF2-40B4-BE49-F238E27FC236}">
                <a16:creationId xmlns:a16="http://schemas.microsoft.com/office/drawing/2014/main" id="{D19D66BD-C18A-92C9-22FE-6AC1F968B0E9}"/>
              </a:ext>
            </a:extLst>
          </p:cNvPr>
          <p:cNvSpPr/>
          <p:nvPr/>
        </p:nvSpPr>
        <p:spPr>
          <a:xfrm rot="16200000">
            <a:off x="6072130" y="1546672"/>
            <a:ext cx="292954" cy="3292689"/>
          </a:xfrm>
          <a:prstGeom prst="rightBrace">
            <a:avLst>
              <a:gd name="adj1" fmla="val 5560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160C34-E55A-1598-11E1-3F15B04A0E30}"/>
              </a:ext>
            </a:extLst>
          </p:cNvPr>
          <p:cNvSpPr txBox="1"/>
          <p:nvPr/>
        </p:nvSpPr>
        <p:spPr>
          <a:xfrm>
            <a:off x="1695250" y="4370959"/>
            <a:ext cx="1279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Données de la sécuritée routière sur gouv.fr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FD49403-A394-AFCA-FEE9-39E832E968A2}"/>
              </a:ext>
            </a:extLst>
          </p:cNvPr>
          <p:cNvSpPr txBox="1"/>
          <p:nvPr/>
        </p:nvSpPr>
        <p:spPr>
          <a:xfrm rot="1235438">
            <a:off x="2686735" y="2677333"/>
            <a:ext cx="1601429" cy="473549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290464"/>
              </a:avLst>
            </a:prstTxWarp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Maintenance de la chaîne MLOps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159919-303A-5AB0-2096-D67A656511F4}"/>
              </a:ext>
            </a:extLst>
          </p:cNvPr>
          <p:cNvSpPr txBox="1"/>
          <p:nvPr/>
        </p:nvSpPr>
        <p:spPr>
          <a:xfrm rot="20454124">
            <a:off x="2684151" y="5060781"/>
            <a:ext cx="1564105" cy="41764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510011"/>
              </a:avLst>
            </a:prstTxWarp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Modèles optimisés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162B4EE-645E-1A5A-6067-AAE3F6627AA9}"/>
              </a:ext>
            </a:extLst>
          </p:cNvPr>
          <p:cNvSpPr txBox="1"/>
          <p:nvPr/>
        </p:nvSpPr>
        <p:spPr>
          <a:xfrm>
            <a:off x="6218607" y="3013880"/>
            <a:ext cx="12191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Opère la solution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C2AC67-A076-A3AE-DD17-9489F70EDCC0}"/>
              </a:ext>
            </a:extLst>
          </p:cNvPr>
          <p:cNvSpPr txBox="1"/>
          <p:nvPr/>
        </p:nvSpPr>
        <p:spPr>
          <a:xfrm>
            <a:off x="8875963" y="3890572"/>
            <a:ext cx="71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Utilise la solution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36E835-A26B-CFE3-9ADF-63B1CC8D2572}"/>
              </a:ext>
            </a:extLst>
          </p:cNvPr>
          <p:cNvSpPr txBox="1"/>
          <p:nvPr/>
        </p:nvSpPr>
        <p:spPr>
          <a:xfrm>
            <a:off x="2700068" y="3883556"/>
            <a:ext cx="923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Réentraînement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D482F4C-9BD1-87E3-F252-34A44AB6EF3A}"/>
              </a:ext>
            </a:extLst>
          </p:cNvPr>
          <p:cNvSpPr/>
          <p:nvPr/>
        </p:nvSpPr>
        <p:spPr>
          <a:xfrm>
            <a:off x="1750915" y="2553284"/>
            <a:ext cx="224590" cy="224590"/>
          </a:xfrm>
          <a:prstGeom prst="ellipse">
            <a:avLst/>
          </a:prstGeom>
          <a:solidFill>
            <a:schemeClr val="accent1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 dirty="0"/>
              <a:t>2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CD69185-F2AD-BD82-361F-F088C874DA18}"/>
              </a:ext>
            </a:extLst>
          </p:cNvPr>
          <p:cNvSpPr/>
          <p:nvPr/>
        </p:nvSpPr>
        <p:spPr>
          <a:xfrm>
            <a:off x="1750915" y="3909559"/>
            <a:ext cx="224590" cy="224590"/>
          </a:xfrm>
          <a:prstGeom prst="ellipse">
            <a:avLst/>
          </a:prstGeom>
          <a:solidFill>
            <a:schemeClr val="accent1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 dirty="0"/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4C5B30B-224B-74FE-131F-A18DFEA3BC3D}"/>
              </a:ext>
            </a:extLst>
          </p:cNvPr>
          <p:cNvSpPr/>
          <p:nvPr/>
        </p:nvSpPr>
        <p:spPr>
          <a:xfrm>
            <a:off x="1750915" y="5359343"/>
            <a:ext cx="224590" cy="224590"/>
          </a:xfrm>
          <a:prstGeom prst="ellipse">
            <a:avLst/>
          </a:prstGeom>
          <a:solidFill>
            <a:schemeClr val="accent1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 dirty="0"/>
              <a:t>3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DDE22D81-50E4-09B8-1099-E64F8B5F119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rgbClr val="156082">
                <a:shade val="45000"/>
                <a:satMod val="135000"/>
              </a:srgbClr>
              <a:prstClr val="white"/>
            </a:duotone>
          </a:blip>
          <a:srcRect l="22690" r="23838"/>
          <a:stretch>
            <a:fillRect/>
          </a:stretch>
        </p:blipFill>
        <p:spPr>
          <a:xfrm>
            <a:off x="1938633" y="2263848"/>
            <a:ext cx="792291" cy="69165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AF422FDE-32EA-6EB9-4782-AA6D9594489D}"/>
              </a:ext>
            </a:extLst>
          </p:cNvPr>
          <p:cNvSpPr txBox="1"/>
          <p:nvPr/>
        </p:nvSpPr>
        <p:spPr>
          <a:xfrm>
            <a:off x="1725179" y="2931434"/>
            <a:ext cx="1219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>
                <a:solidFill>
                  <a:schemeClr val="accent1"/>
                </a:solidFill>
              </a:rPr>
              <a:t>Elon</a:t>
            </a:r>
            <a:br>
              <a:rPr lang="en-FR" sz="1000">
                <a:solidFill>
                  <a:schemeClr val="accent1"/>
                </a:solidFill>
              </a:rPr>
            </a:br>
            <a:r>
              <a:rPr lang="en-FR" sz="1000">
                <a:solidFill>
                  <a:schemeClr val="accent1"/>
                </a:solidFill>
              </a:rPr>
              <a:t>Ingénieur </a:t>
            </a:r>
            <a:r>
              <a:rPr lang="en-FR" sz="800">
                <a:solidFill>
                  <a:schemeClr val="accent1"/>
                </a:solidFill>
              </a:rPr>
              <a:t>MLOps 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DED9C8E9-68B0-BEA3-3DBC-E66DCA34F55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>
          <a:xfrm flipH="1">
            <a:off x="1975625" y="5173893"/>
            <a:ext cx="718306" cy="691650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DB7ED656-12DF-1558-C9B2-35ED47316EB9}"/>
              </a:ext>
            </a:extLst>
          </p:cNvPr>
          <p:cNvSpPr txBox="1"/>
          <p:nvPr/>
        </p:nvSpPr>
        <p:spPr>
          <a:xfrm>
            <a:off x="1725179" y="5817416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chemeClr val="accent1"/>
                </a:solidFill>
              </a:rPr>
              <a:t>Lucie</a:t>
            </a:r>
            <a:br>
              <a:rPr lang="en-FR" sz="1000" dirty="0">
                <a:solidFill>
                  <a:schemeClr val="accent1"/>
                </a:solidFill>
              </a:rPr>
            </a:br>
            <a:r>
              <a:rPr lang="en-FR" sz="800" dirty="0">
                <a:solidFill>
                  <a:schemeClr val="accent1"/>
                </a:solidFill>
              </a:rPr>
              <a:t>Data Scientist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BB6A3E2-B1CD-BB50-BA79-6D0C04475C5C}"/>
              </a:ext>
            </a:extLst>
          </p:cNvPr>
          <p:cNvSpPr txBox="1"/>
          <p:nvPr/>
        </p:nvSpPr>
        <p:spPr>
          <a:xfrm>
            <a:off x="764167" y="3851804"/>
            <a:ext cx="95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chemeClr val="accent1"/>
                </a:solidFill>
              </a:rPr>
              <a:t>Trigger nouvelles données</a:t>
            </a:r>
            <a:endParaRPr lang="en-FR" sz="800" baseline="30000" dirty="0">
              <a:solidFill>
                <a:schemeClr val="accent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62A41C-6840-A71B-7004-46D51A27A826}"/>
              </a:ext>
            </a:extLst>
          </p:cNvPr>
          <p:cNvSpPr txBox="1"/>
          <p:nvPr/>
        </p:nvSpPr>
        <p:spPr>
          <a:xfrm>
            <a:off x="624054" y="5302361"/>
            <a:ext cx="1096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chemeClr val="accent1"/>
                </a:solidFill>
              </a:rPr>
              <a:t>Trigger nouveau modèle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C95ECB-1EB2-D30F-17B1-7DD30D537177}"/>
              </a:ext>
            </a:extLst>
          </p:cNvPr>
          <p:cNvSpPr txBox="1"/>
          <p:nvPr/>
        </p:nvSpPr>
        <p:spPr>
          <a:xfrm>
            <a:off x="764167" y="2502027"/>
            <a:ext cx="95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chemeClr val="accent1"/>
                </a:solidFill>
              </a:rPr>
              <a:t>Trigger nouveau code</a:t>
            </a:r>
            <a:endParaRPr lang="en-FR" sz="800" baseline="30000" dirty="0">
              <a:solidFill>
                <a:schemeClr val="accent1"/>
              </a:solidFill>
            </a:endParaRPr>
          </a:p>
        </p:txBody>
      </p:sp>
      <p:pic>
        <p:nvPicPr>
          <p:cNvPr id="2" name="Picture 1" descr="Discover Kia India's iMT Range – Smart Clutch-Free Manual Transmission Cars">
            <a:extLst>
              <a:ext uri="{FF2B5EF4-FFF2-40B4-BE49-F238E27FC236}">
                <a16:creationId xmlns:a16="http://schemas.microsoft.com/office/drawing/2014/main" id="{7AA8F988-753C-DAFF-AC32-71E6A7BCE47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156082"/>
              <a:srgbClr val="156082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31505" y="3580958"/>
            <a:ext cx="960240" cy="96024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67DEB2-6116-F4E6-33EA-34098371AE2B}"/>
              </a:ext>
            </a:extLst>
          </p:cNvPr>
          <p:cNvSpPr/>
          <p:nvPr/>
        </p:nvSpPr>
        <p:spPr>
          <a:xfrm>
            <a:off x="3857829" y="3563831"/>
            <a:ext cx="2194544" cy="986397"/>
          </a:xfrm>
          <a:prstGeom prst="roundRect">
            <a:avLst>
              <a:gd name="adj" fmla="val 46857"/>
            </a:avLst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216000" bIns="0" rtlCol="0" anchor="t"/>
          <a:lstStyle/>
          <a:p>
            <a:pPr algn="r"/>
            <a:r>
              <a:rPr lang="en-FR" b="1" dirty="0">
                <a:solidFill>
                  <a:schemeClr val="accent1"/>
                </a:solidFill>
              </a:rPr>
              <a:t>VPS</a:t>
            </a:r>
          </a:p>
        </p:txBody>
      </p:sp>
      <p:pic>
        <p:nvPicPr>
          <p:cNvPr id="8" name="Picture 7" descr="Discover Kia India's iMT Range – Smart Clutch-Free Manual Transmission Cars">
            <a:extLst>
              <a:ext uri="{FF2B5EF4-FFF2-40B4-BE49-F238E27FC236}">
                <a16:creationId xmlns:a16="http://schemas.microsoft.com/office/drawing/2014/main" id="{FDB564AA-6AEB-394C-C6B5-657F356AB75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156082"/>
              <a:srgbClr val="156082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5611" y="3591435"/>
            <a:ext cx="960240" cy="96024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ED976D-EBF7-51AA-51EF-15E965D2D353}"/>
              </a:ext>
            </a:extLst>
          </p:cNvPr>
          <p:cNvSpPr/>
          <p:nvPr/>
        </p:nvSpPr>
        <p:spPr>
          <a:xfrm>
            <a:off x="6338853" y="3563831"/>
            <a:ext cx="2264816" cy="986397"/>
          </a:xfrm>
          <a:prstGeom prst="roundRect">
            <a:avLst>
              <a:gd name="adj" fmla="val 46857"/>
            </a:avLst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216000" bIns="0" rtlCol="0" anchor="t"/>
          <a:lstStyle/>
          <a:p>
            <a:pPr algn="r"/>
            <a:r>
              <a:rPr lang="en-FR" b="1" dirty="0">
                <a:solidFill>
                  <a:schemeClr val="accent1"/>
                </a:solidFill>
              </a:rPr>
              <a:t>K8S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06EF1-9AC8-53BC-EAC7-0A0EAA179F8F}"/>
              </a:ext>
            </a:extLst>
          </p:cNvPr>
          <p:cNvSpPr txBox="1"/>
          <p:nvPr/>
        </p:nvSpPr>
        <p:spPr>
          <a:xfrm>
            <a:off x="4875593" y="3906425"/>
            <a:ext cx="1272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Accès public &amp; admin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1BA4D-3B5C-F475-4426-3A91A37B4C20}"/>
              </a:ext>
            </a:extLst>
          </p:cNvPr>
          <p:cNvSpPr txBox="1"/>
          <p:nvPr/>
        </p:nvSpPr>
        <p:spPr>
          <a:xfrm>
            <a:off x="7593821" y="3906426"/>
            <a:ext cx="9272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Accès public</a:t>
            </a:r>
          </a:p>
        </p:txBody>
      </p:sp>
      <p:pic>
        <p:nvPicPr>
          <p:cNvPr id="17" name="Graphic 16" descr="Target with solid fill">
            <a:extLst>
              <a:ext uri="{FF2B5EF4-FFF2-40B4-BE49-F238E27FC236}">
                <a16:creationId xmlns:a16="http://schemas.microsoft.com/office/drawing/2014/main" id="{E515C62C-C16F-07A5-F650-4567D41FD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8643" y="4980749"/>
            <a:ext cx="906405" cy="9064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CB5867B-5B26-3A43-5202-B6A97B74F4D6}"/>
              </a:ext>
            </a:extLst>
          </p:cNvPr>
          <p:cNvSpPr/>
          <p:nvPr/>
        </p:nvSpPr>
        <p:spPr>
          <a:xfrm>
            <a:off x="7819084" y="5951595"/>
            <a:ext cx="4372916" cy="906405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tIns="144000" rtlCol="0" anchor="t"/>
          <a:lstStyle/>
          <a:p>
            <a:r>
              <a:rPr lang="fr-FR" sz="1400" b="1" dirty="0">
                <a:solidFill>
                  <a:schemeClr val="accent1"/>
                </a:solidFill>
              </a:rPr>
              <a:t>COMMENT ?</a:t>
            </a:r>
          </a:p>
          <a:p>
            <a:r>
              <a:rPr lang="fr-FR" sz="1400" dirty="0">
                <a:solidFill>
                  <a:schemeClr val="accent1"/>
                </a:solidFill>
              </a:rPr>
              <a:t>Maximiser la fiabilité,  l'automatisation, et la sécurité de la chaîne MLOps</a:t>
            </a:r>
          </a:p>
        </p:txBody>
      </p:sp>
      <p:pic>
        <p:nvPicPr>
          <p:cNvPr id="14" name="Graphic 13" descr="Watch with solid fill">
            <a:extLst>
              <a:ext uri="{FF2B5EF4-FFF2-40B4-BE49-F238E27FC236}">
                <a16:creationId xmlns:a16="http://schemas.microsoft.com/office/drawing/2014/main" id="{6EBAB7D8-E5C0-5046-FDD3-D575D6918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8643" y="5943037"/>
            <a:ext cx="906405" cy="906405"/>
          </a:xfrm>
          <a:prstGeom prst="rect">
            <a:avLst/>
          </a:prstGeom>
        </p:spPr>
      </p:pic>
      <p:sp>
        <p:nvSpPr>
          <p:cNvPr id="36" name="Rounded Rectangle 35">
            <a:hlinkClick r:id="rId12"/>
            <a:extLst>
              <a:ext uri="{FF2B5EF4-FFF2-40B4-BE49-F238E27FC236}">
                <a16:creationId xmlns:a16="http://schemas.microsoft.com/office/drawing/2014/main" id="{8C263DD3-5E67-72F8-3637-E57C5E1F1803}"/>
              </a:ext>
            </a:extLst>
          </p:cNvPr>
          <p:cNvSpPr/>
          <p:nvPr/>
        </p:nvSpPr>
        <p:spPr>
          <a:xfrm>
            <a:off x="5696439" y="3958491"/>
            <a:ext cx="306000" cy="118800"/>
          </a:xfrm>
          <a:prstGeom prst="roundRect">
            <a:avLst/>
          </a:prstGeom>
          <a:solidFill>
            <a:srgbClr val="FF00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7" name="Rounded Rectangle 36">
            <a:hlinkClick r:id="rId13"/>
            <a:extLst>
              <a:ext uri="{FF2B5EF4-FFF2-40B4-BE49-F238E27FC236}">
                <a16:creationId xmlns:a16="http://schemas.microsoft.com/office/drawing/2014/main" id="{B88F3EA0-54AF-14B2-3419-A363932FFF8F}"/>
              </a:ext>
            </a:extLst>
          </p:cNvPr>
          <p:cNvSpPr/>
          <p:nvPr/>
        </p:nvSpPr>
        <p:spPr>
          <a:xfrm>
            <a:off x="8062779" y="3958491"/>
            <a:ext cx="306000" cy="118800"/>
          </a:xfrm>
          <a:prstGeom prst="roundRect">
            <a:avLst/>
          </a:prstGeom>
          <a:solidFill>
            <a:schemeClr val="accent5"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8" name="Rounded Rectangle 37">
            <a:hlinkClick r:id="rId14"/>
            <a:extLst>
              <a:ext uri="{FF2B5EF4-FFF2-40B4-BE49-F238E27FC236}">
                <a16:creationId xmlns:a16="http://schemas.microsoft.com/office/drawing/2014/main" id="{281AE810-0B64-FF5D-4CA9-06E6FD8D50BE}"/>
              </a:ext>
            </a:extLst>
          </p:cNvPr>
          <p:cNvSpPr/>
          <p:nvPr/>
        </p:nvSpPr>
        <p:spPr>
          <a:xfrm>
            <a:off x="5323857" y="3958491"/>
            <a:ext cx="306000" cy="118800"/>
          </a:xfrm>
          <a:prstGeom prst="roundRect">
            <a:avLst/>
          </a:prstGeom>
          <a:solidFill>
            <a:srgbClr val="FFFF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5122" name="Picture 2" descr="EKM Insight API">
            <a:extLst>
              <a:ext uri="{FF2B5EF4-FFF2-40B4-BE49-F238E27FC236}">
                <a16:creationId xmlns:a16="http://schemas.microsoft.com/office/drawing/2014/main" id="{D940DA54-8BC9-A8FA-98A8-A77A5DBB8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491" y="2300285"/>
            <a:ext cx="782247" cy="521498"/>
          </a:xfrm>
          <a:prstGeom prst="rect">
            <a:avLst/>
          </a:prstGeom>
          <a:noFill/>
          <a:effectLst>
            <a:glow rad="228600">
              <a:schemeClr val="bg1">
                <a:lumMod val="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7CDE6481-2CD0-785E-686F-D12978B0D7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39785" y="2587633"/>
            <a:ext cx="1304300" cy="831047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2E98FDDD-41D9-562B-F9DB-EC58E62A6AD2}"/>
              </a:ext>
            </a:extLst>
          </p:cNvPr>
          <p:cNvSpPr/>
          <p:nvPr/>
        </p:nvSpPr>
        <p:spPr>
          <a:xfrm>
            <a:off x="8154845" y="3392081"/>
            <a:ext cx="200692" cy="216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04563D-AD68-27D2-3799-C00897287491}"/>
              </a:ext>
            </a:extLst>
          </p:cNvPr>
          <p:cNvSpPr txBox="1"/>
          <p:nvPr/>
        </p:nvSpPr>
        <p:spPr>
          <a:xfrm>
            <a:off x="10096694" y="2387578"/>
            <a:ext cx="1086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chemeClr val="bg1">
                    <a:lumMod val="50000"/>
                  </a:schemeClr>
                </a:solidFill>
              </a:rPr>
              <a:t>API</a:t>
            </a:r>
            <a:br>
              <a:rPr lang="en-FR" sz="10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FR" sz="1000" b="1" dirty="0">
                <a:solidFill>
                  <a:schemeClr val="bg1">
                    <a:lumMod val="50000"/>
                  </a:schemeClr>
                </a:solidFill>
              </a:rPr>
              <a:t>externes</a:t>
            </a:r>
            <a:endParaRPr lang="en-FR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C977F5-75B4-B6D4-5402-E7EBA17A0EEB}"/>
              </a:ext>
            </a:extLst>
          </p:cNvPr>
          <p:cNvSpPr txBox="1"/>
          <p:nvPr/>
        </p:nvSpPr>
        <p:spPr>
          <a:xfrm>
            <a:off x="7745323" y="3603590"/>
            <a:ext cx="6366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Accès API</a:t>
            </a:r>
          </a:p>
        </p:txBody>
      </p:sp>
      <p:sp>
        <p:nvSpPr>
          <p:cNvPr id="55" name="Rounded Rectangle 54">
            <a:hlinkClick r:id="rId16"/>
            <a:extLst>
              <a:ext uri="{FF2B5EF4-FFF2-40B4-BE49-F238E27FC236}">
                <a16:creationId xmlns:a16="http://schemas.microsoft.com/office/drawing/2014/main" id="{B8147D90-3044-3ED0-9F68-5EE033422E40}"/>
              </a:ext>
            </a:extLst>
          </p:cNvPr>
          <p:cNvSpPr/>
          <p:nvPr/>
        </p:nvSpPr>
        <p:spPr>
          <a:xfrm>
            <a:off x="8116479" y="3657627"/>
            <a:ext cx="180000" cy="118800"/>
          </a:xfrm>
          <a:prstGeom prst="roundRect">
            <a:avLst/>
          </a:prstGeom>
          <a:solidFill>
            <a:srgbClr val="00B0F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D929FE-8C6B-5DC0-1B25-933C28289895}"/>
              </a:ext>
            </a:extLst>
          </p:cNvPr>
          <p:cNvSpPr txBox="1"/>
          <p:nvPr/>
        </p:nvSpPr>
        <p:spPr>
          <a:xfrm>
            <a:off x="5193165" y="3599347"/>
            <a:ext cx="6366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Accès API</a:t>
            </a:r>
          </a:p>
        </p:txBody>
      </p:sp>
      <p:sp>
        <p:nvSpPr>
          <p:cNvPr id="58" name="Rounded Rectangle 57">
            <a:hlinkClick r:id="rId17"/>
            <a:extLst>
              <a:ext uri="{FF2B5EF4-FFF2-40B4-BE49-F238E27FC236}">
                <a16:creationId xmlns:a16="http://schemas.microsoft.com/office/drawing/2014/main" id="{0BA275EF-0E4E-229A-786B-A33A6F86FF40}"/>
              </a:ext>
            </a:extLst>
          </p:cNvPr>
          <p:cNvSpPr/>
          <p:nvPr/>
        </p:nvSpPr>
        <p:spPr>
          <a:xfrm>
            <a:off x="5564321" y="3653384"/>
            <a:ext cx="180000" cy="118800"/>
          </a:xfrm>
          <a:prstGeom prst="roundRect">
            <a:avLst/>
          </a:prstGeom>
          <a:solidFill>
            <a:schemeClr val="accent6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4410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4" grpId="0" animBg="1"/>
      <p:bldP spid="30" grpId="0"/>
      <p:bldP spid="85" grpId="0"/>
      <p:bldP spid="85" grpId="1"/>
      <p:bldP spid="86" grpId="0"/>
      <p:bldP spid="86" grpId="1"/>
      <p:bldP spid="86" grpId="2"/>
      <p:bldP spid="87" grpId="0"/>
      <p:bldP spid="90" grpId="0"/>
      <p:bldP spid="90" grpId="1"/>
      <p:bldP spid="90" grpId="2"/>
      <p:bldP spid="91" grpId="0" animBg="1"/>
      <p:bldP spid="91" grpId="1" animBg="1"/>
      <p:bldP spid="91" grpId="2" animBg="1"/>
      <p:bldP spid="92" grpId="0" animBg="1"/>
      <p:bldP spid="92" grpId="1" animBg="1"/>
      <p:bldP spid="92" grpId="2" animBg="1"/>
      <p:bldP spid="93" grpId="0" animBg="1"/>
      <p:bldP spid="98" grpId="0"/>
      <p:bldP spid="98" grpId="1"/>
      <p:bldP spid="98" grpId="2"/>
      <p:bldP spid="100" grpId="0"/>
      <p:bldP spid="102" grpId="0"/>
      <p:bldP spid="102" grpId="1"/>
      <p:bldP spid="102" grpId="2"/>
      <p:bldP spid="103" grpId="0"/>
      <p:bldP spid="104" grpId="0"/>
      <p:bldP spid="104" grpId="1"/>
      <p:bldP spid="104" grpId="2"/>
      <p:bldP spid="20" grpId="0" animBg="1"/>
      <p:bldP spid="53" grpId="0"/>
      <p:bldP spid="56" grpId="0"/>
      <p:bldP spid="55" grpId="0" animBg="1"/>
      <p:bldP spid="57" grpId="0"/>
      <p:bldP spid="5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0F033-E908-F0A9-E5D7-FF32E5CD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EBC35C-2087-E81D-D83A-D464BDB7F856}"/>
              </a:ext>
            </a:extLst>
          </p:cNvPr>
          <p:cNvSpPr txBox="1"/>
          <p:nvPr/>
        </p:nvSpPr>
        <p:spPr>
          <a:xfrm>
            <a:off x="1348618" y="5514166"/>
            <a:ext cx="12191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>
                <a:solidFill>
                  <a:schemeClr val="bg1">
                    <a:lumMod val="85000"/>
                  </a:schemeClr>
                </a:solidFill>
              </a:rPr>
              <a:t>Lucie</a:t>
            </a:r>
            <a:br>
              <a:rPr lang="en-FR" sz="1000">
                <a:solidFill>
                  <a:schemeClr val="bg1">
                    <a:lumMod val="85000"/>
                  </a:schemeClr>
                </a:solidFill>
              </a:rPr>
            </a:br>
            <a:r>
              <a:rPr lang="en-GB" sz="800">
                <a:solidFill>
                  <a:schemeClr val="bg1">
                    <a:lumMod val="85000"/>
                  </a:schemeClr>
                </a:solidFill>
              </a:rPr>
              <a:t>Branche Git</a:t>
            </a:r>
            <a:br>
              <a:rPr lang="en-GB" sz="800">
                <a:solidFill>
                  <a:schemeClr val="bg1">
                    <a:lumMod val="85000"/>
                  </a:schemeClr>
                </a:solidFill>
              </a:rPr>
            </a:br>
            <a:r>
              <a:rPr lang="en-GB" sz="800">
                <a:solidFill>
                  <a:schemeClr val="bg1">
                    <a:lumMod val="85000"/>
                  </a:schemeClr>
                </a:solidFill>
              </a:rPr>
              <a:t>DS</a:t>
            </a:r>
            <a:endParaRPr lang="en-FR" sz="80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EBDF60-6A1C-E249-0115-AF82DC85A228}"/>
              </a:ext>
            </a:extLst>
          </p:cNvPr>
          <p:cNvGrpSpPr/>
          <p:nvPr/>
        </p:nvGrpSpPr>
        <p:grpSpPr>
          <a:xfrm>
            <a:off x="277423" y="1994185"/>
            <a:ext cx="10889791" cy="3601695"/>
            <a:chOff x="277423" y="1487397"/>
            <a:chExt cx="10889791" cy="3601695"/>
          </a:xfrm>
        </p:grpSpPr>
        <p:pic>
          <p:nvPicPr>
            <p:cNvPr id="5" name="Graphic 4" descr="Database with solid fill">
              <a:extLst>
                <a:ext uri="{FF2B5EF4-FFF2-40B4-BE49-F238E27FC236}">
                  <a16:creationId xmlns:a16="http://schemas.microsoft.com/office/drawing/2014/main" id="{3602A9A6-C140-00D8-3ABA-7E339E3A2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86635" y="2879066"/>
              <a:ext cx="803025" cy="80302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B8E094-DCDB-62EF-DC5E-D499D0CE2694}"/>
                </a:ext>
              </a:extLst>
            </p:cNvPr>
            <p:cNvSpPr txBox="1"/>
            <p:nvPr/>
          </p:nvSpPr>
          <p:spPr>
            <a:xfrm>
              <a:off x="1348619" y="3594508"/>
              <a:ext cx="12790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800">
                  <a:solidFill>
                    <a:schemeClr val="bg1">
                      <a:lumMod val="85000"/>
                    </a:schemeClr>
                  </a:solidFill>
                </a:rPr>
                <a:t>Données de la sécuritée routière sur gouv.fr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6B44589-3A54-D453-84E1-4107685920F7}"/>
                </a:ext>
              </a:extLst>
            </p:cNvPr>
            <p:cNvSpPr/>
            <p:nvPr/>
          </p:nvSpPr>
          <p:spPr>
            <a:xfrm>
              <a:off x="1404284" y="1720927"/>
              <a:ext cx="224590" cy="2245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C2DB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1200" b="1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CC670A-25E5-CED9-FA76-A73E9DD59F5D}"/>
                </a:ext>
              </a:extLst>
            </p:cNvPr>
            <p:cNvSpPr/>
            <p:nvPr/>
          </p:nvSpPr>
          <p:spPr>
            <a:xfrm>
              <a:off x="1404284" y="3149980"/>
              <a:ext cx="224590" cy="2245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C2DB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1200" b="1"/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DE972AB-AE83-0BB1-C7AE-3B8D4A15682D}"/>
                </a:ext>
              </a:extLst>
            </p:cNvPr>
            <p:cNvSpPr/>
            <p:nvPr/>
          </p:nvSpPr>
          <p:spPr>
            <a:xfrm>
              <a:off x="1404284" y="4630972"/>
              <a:ext cx="224590" cy="2245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C2DB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1200" b="1"/>
                <a:t>3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A0FCB47-0F59-90F1-268F-24B15FA407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22690" r="23838"/>
            <a:stretch>
              <a:fillRect/>
            </a:stretch>
          </p:blipFill>
          <p:spPr>
            <a:xfrm>
              <a:off x="1592002" y="1487397"/>
              <a:ext cx="792291" cy="69165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FB1D00-B8B6-51E3-047E-7E32BBBA49AB}"/>
                </a:ext>
              </a:extLst>
            </p:cNvPr>
            <p:cNvSpPr txBox="1"/>
            <p:nvPr/>
          </p:nvSpPr>
          <p:spPr>
            <a:xfrm>
              <a:off x="1378548" y="2154983"/>
              <a:ext cx="121919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1000" b="1">
                  <a:solidFill>
                    <a:schemeClr val="bg1">
                      <a:lumMod val="85000"/>
                    </a:schemeClr>
                  </a:solidFill>
                </a:rPr>
                <a:t>Elon</a:t>
              </a:r>
              <a:br>
                <a:rPr lang="en-FR" sz="1000">
                  <a:solidFill>
                    <a:schemeClr val="bg1">
                      <a:lumMod val="85000"/>
                    </a:schemeClr>
                  </a:solidFill>
                </a:rPr>
              </a:br>
              <a:r>
                <a:rPr lang="en-GB" sz="1000">
                  <a:solidFill>
                    <a:schemeClr val="bg1">
                      <a:lumMod val="85000"/>
                    </a:schemeClr>
                  </a:solidFill>
                </a:rPr>
                <a:t>Branche Git MLOps </a:t>
              </a:r>
              <a:endParaRPr lang="en-FR" sz="8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12FF26B-4BD3-A57E-E0AC-53012A7C9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/>
          </p:blipFill>
          <p:spPr>
            <a:xfrm flipH="1">
              <a:off x="1628994" y="4397442"/>
              <a:ext cx="718306" cy="69165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A1BC01-DE00-8BF4-6FF0-2DC4A1181742}"/>
                </a:ext>
              </a:extLst>
            </p:cNvPr>
            <p:cNvSpPr txBox="1"/>
            <p:nvPr/>
          </p:nvSpPr>
          <p:spPr>
            <a:xfrm>
              <a:off x="417536" y="3092998"/>
              <a:ext cx="95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FR" sz="800">
                  <a:solidFill>
                    <a:schemeClr val="bg1">
                      <a:lumMod val="85000"/>
                    </a:schemeClr>
                  </a:solidFill>
                </a:rPr>
                <a:t>Trigger nouvelles données</a:t>
              </a:r>
              <a:endParaRPr lang="en-FR" sz="800" baseline="30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C444FD-44D4-8882-CC14-CE520474FD02}"/>
                </a:ext>
              </a:extLst>
            </p:cNvPr>
            <p:cNvSpPr txBox="1"/>
            <p:nvPr/>
          </p:nvSpPr>
          <p:spPr>
            <a:xfrm>
              <a:off x="277423" y="4573990"/>
              <a:ext cx="10963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FR" sz="800" dirty="0">
                  <a:solidFill>
                    <a:schemeClr val="bg1">
                      <a:lumMod val="85000"/>
                    </a:schemeClr>
                  </a:solidFill>
                </a:rPr>
                <a:t>Trigger nouveau modèle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B155F6-81BE-6E67-747E-6C1364E6A468}"/>
                </a:ext>
              </a:extLst>
            </p:cNvPr>
            <p:cNvSpPr txBox="1"/>
            <p:nvPr/>
          </p:nvSpPr>
          <p:spPr>
            <a:xfrm>
              <a:off x="417536" y="1663945"/>
              <a:ext cx="95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FR" sz="800">
                  <a:solidFill>
                    <a:schemeClr val="bg1">
                      <a:lumMod val="85000"/>
                    </a:schemeClr>
                  </a:solidFill>
                </a:rPr>
                <a:t>Trigger nouveau code</a:t>
              </a:r>
              <a:endParaRPr lang="en-FR" sz="800" baseline="30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8375F81-CFD8-0F90-5790-2F695D348409}"/>
                </a:ext>
              </a:extLst>
            </p:cNvPr>
            <p:cNvGrpSpPr/>
            <p:nvPr/>
          </p:nvGrpSpPr>
          <p:grpSpPr>
            <a:xfrm>
              <a:off x="4372590" y="1612213"/>
              <a:ext cx="495496" cy="442019"/>
              <a:chOff x="6586150" y="3516702"/>
              <a:chExt cx="495496" cy="442019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2646B9FC-68E4-0F5E-EB40-64BAFFCEA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3447"/>
              <a:stretch/>
            </p:blipFill>
            <p:spPr>
              <a:xfrm>
                <a:off x="6586150" y="3516702"/>
                <a:ext cx="495496" cy="4420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CEF350E-7F7B-408F-4409-A518224E63F9}"/>
                  </a:ext>
                </a:extLst>
              </p:cNvPr>
              <p:cNvSpPr/>
              <p:nvPr/>
            </p:nvSpPr>
            <p:spPr>
              <a:xfrm>
                <a:off x="6638796" y="3530712"/>
                <a:ext cx="413999" cy="413999"/>
              </a:xfrm>
              <a:prstGeom prst="ellipse">
                <a:avLst/>
              </a:prstGeom>
              <a:no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91A9E0A-13E4-E7AF-C4A3-5BF0C862FF4D}"/>
                </a:ext>
              </a:extLst>
            </p:cNvPr>
            <p:cNvGrpSpPr/>
            <p:nvPr/>
          </p:nvGrpSpPr>
          <p:grpSpPr>
            <a:xfrm>
              <a:off x="3899613" y="4522258"/>
              <a:ext cx="495496" cy="442019"/>
              <a:chOff x="6586150" y="3516702"/>
              <a:chExt cx="495496" cy="442019"/>
            </a:xfrm>
          </p:grpSpPr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606CE80F-B75D-3A69-91E9-1AF9278B41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3447"/>
              <a:stretch/>
            </p:blipFill>
            <p:spPr>
              <a:xfrm>
                <a:off x="6586150" y="3516702"/>
                <a:ext cx="495496" cy="4420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403C613-B348-3625-AA9D-89B6AAD9212F}"/>
                  </a:ext>
                </a:extLst>
              </p:cNvPr>
              <p:cNvSpPr/>
              <p:nvPr/>
            </p:nvSpPr>
            <p:spPr>
              <a:xfrm>
                <a:off x="6638796" y="3530712"/>
                <a:ext cx="413999" cy="413999"/>
              </a:xfrm>
              <a:prstGeom prst="ellipse">
                <a:avLst/>
              </a:prstGeom>
              <a:no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CF9C849-D06A-4993-7E78-D0F175F26C45}"/>
                </a:ext>
              </a:extLst>
            </p:cNvPr>
            <p:cNvGrpSpPr/>
            <p:nvPr/>
          </p:nvGrpSpPr>
          <p:grpSpPr>
            <a:xfrm>
              <a:off x="7256052" y="3041266"/>
              <a:ext cx="495496" cy="442019"/>
              <a:chOff x="6586150" y="3516702"/>
              <a:chExt cx="495496" cy="442019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833E2CBF-FDF9-3649-1CDB-4AA5E9897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3447"/>
              <a:stretch/>
            </p:blipFill>
            <p:spPr>
              <a:xfrm>
                <a:off x="6586150" y="3516702"/>
                <a:ext cx="495496" cy="4420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FC6564E-1538-C454-6F36-E3F61C4E7CF0}"/>
                  </a:ext>
                </a:extLst>
              </p:cNvPr>
              <p:cNvSpPr/>
              <p:nvPr/>
            </p:nvSpPr>
            <p:spPr>
              <a:xfrm>
                <a:off x="6638796" y="3530712"/>
                <a:ext cx="413999" cy="413999"/>
              </a:xfrm>
              <a:prstGeom prst="ellipse">
                <a:avLst/>
              </a:prstGeom>
              <a:no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27" name="Oval 26">
              <a:hlinkClick r:id="rId7"/>
              <a:extLst>
                <a:ext uri="{FF2B5EF4-FFF2-40B4-BE49-F238E27FC236}">
                  <a16:creationId xmlns:a16="http://schemas.microsoft.com/office/drawing/2014/main" id="{3389BA29-94AC-7E11-8AFA-8327BE5D792C}"/>
                </a:ext>
              </a:extLst>
            </p:cNvPr>
            <p:cNvSpPr/>
            <p:nvPr/>
          </p:nvSpPr>
          <p:spPr>
            <a:xfrm>
              <a:off x="2964280" y="1626223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CI</a:t>
              </a:r>
            </a:p>
          </p:txBody>
        </p:sp>
        <p:sp>
          <p:nvSpPr>
            <p:cNvPr id="28" name="Oval 27">
              <a:hlinkClick r:id="rId7"/>
              <a:extLst>
                <a:ext uri="{FF2B5EF4-FFF2-40B4-BE49-F238E27FC236}">
                  <a16:creationId xmlns:a16="http://schemas.microsoft.com/office/drawing/2014/main" id="{A02CF115-6984-B390-F493-BA74E219C039}"/>
                </a:ext>
              </a:extLst>
            </p:cNvPr>
            <p:cNvSpPr/>
            <p:nvPr/>
          </p:nvSpPr>
          <p:spPr>
            <a:xfrm>
              <a:off x="5862397" y="1621613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CD</a:t>
              </a:r>
            </a:p>
          </p:txBody>
        </p:sp>
        <p:sp>
          <p:nvSpPr>
            <p:cNvPr id="29" name="Oval 28">
              <a:hlinkClick r:id="rId8"/>
              <a:extLst>
                <a:ext uri="{FF2B5EF4-FFF2-40B4-BE49-F238E27FC236}">
                  <a16:creationId xmlns:a16="http://schemas.microsoft.com/office/drawing/2014/main" id="{9F0C30B5-62CB-B7AE-7DBE-1F8EA9A3F5FF}"/>
                </a:ext>
              </a:extLst>
            </p:cNvPr>
            <p:cNvSpPr/>
            <p:nvPr/>
          </p:nvSpPr>
          <p:spPr>
            <a:xfrm>
              <a:off x="2964280" y="3055276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ETL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08C452A-9ED9-4FB6-C2E7-B90A2A4900A5}"/>
                </a:ext>
              </a:extLst>
            </p:cNvPr>
            <p:cNvSpPr/>
            <p:nvPr/>
          </p:nvSpPr>
          <p:spPr>
            <a:xfrm>
              <a:off x="4904054" y="3055276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TR.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A269134-B8F2-BF6D-2C40-7E2428AE484A}"/>
                </a:ext>
              </a:extLst>
            </p:cNvPr>
            <p:cNvSpPr/>
            <p:nvPr/>
          </p:nvSpPr>
          <p:spPr>
            <a:xfrm>
              <a:off x="5862397" y="4536268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TR.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CB3EB72-64DD-7207-F13E-2BC7A9EDDD86}"/>
                </a:ext>
              </a:extLst>
            </p:cNvPr>
            <p:cNvSpPr/>
            <p:nvPr/>
          </p:nvSpPr>
          <p:spPr>
            <a:xfrm>
              <a:off x="2964280" y="4536268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CI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89DA585-578F-EF3B-F37F-CCA61F2232FA}"/>
                </a:ext>
              </a:extLst>
            </p:cNvPr>
            <p:cNvSpPr/>
            <p:nvPr/>
          </p:nvSpPr>
          <p:spPr>
            <a:xfrm>
              <a:off x="4914685" y="4536268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CD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D2AD276-C415-3CCA-D81C-1F25DE14E396}"/>
                </a:ext>
              </a:extLst>
            </p:cNvPr>
            <p:cNvSpPr/>
            <p:nvPr/>
          </p:nvSpPr>
          <p:spPr>
            <a:xfrm>
              <a:off x="9045381" y="3055276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FTe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3C71C08-293C-5B93-7920-8FF7A5FC234F}"/>
                </a:ext>
              </a:extLst>
            </p:cNvPr>
            <p:cNvSpPr/>
            <p:nvPr/>
          </p:nvSpPr>
          <p:spPr>
            <a:xfrm>
              <a:off x="10753215" y="3055276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FTe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6EB4701-8334-1045-17B3-95C62F2F2950}"/>
                </a:ext>
              </a:extLst>
            </p:cNvPr>
            <p:cNvSpPr/>
            <p:nvPr/>
          </p:nvSpPr>
          <p:spPr>
            <a:xfrm>
              <a:off x="9899297" y="3055275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>
                  <a:solidFill>
                    <a:schemeClr val="bg1">
                      <a:lumMod val="85000"/>
                    </a:schemeClr>
                  </a:solidFill>
                </a:rPr>
                <a:t>K8s</a:t>
              </a:r>
            </a:p>
          </p:txBody>
        </p: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65ECC8C2-FD5D-A00C-C561-5D9AB0CAB724}"/>
                </a:ext>
              </a:extLst>
            </p:cNvPr>
            <p:cNvCxnSpPr>
              <a:cxnSpLocks/>
              <a:stCxn id="28" idx="6"/>
              <a:endCxn id="70" idx="0"/>
            </p:cNvCxnSpPr>
            <p:nvPr/>
          </p:nvCxnSpPr>
          <p:spPr>
            <a:xfrm>
              <a:off x="6276396" y="1828613"/>
              <a:ext cx="1227404" cy="1212653"/>
            </a:xfrm>
            <a:prstGeom prst="curvedConnector2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8E0F0F5-681E-AC80-B828-AD51A58F8819}"/>
                </a:ext>
              </a:extLst>
            </p:cNvPr>
            <p:cNvCxnSpPr>
              <a:cxnSpLocks/>
              <a:stCxn id="27" idx="6"/>
              <a:endCxn id="82" idx="2"/>
            </p:cNvCxnSpPr>
            <p:nvPr/>
          </p:nvCxnSpPr>
          <p:spPr>
            <a:xfrm>
              <a:off x="3378279" y="1833223"/>
              <a:ext cx="1046957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3087EBA-C208-BAA8-2F64-09573FFE162B}"/>
                </a:ext>
              </a:extLst>
            </p:cNvPr>
            <p:cNvCxnSpPr>
              <a:cxnSpLocks/>
              <a:stCxn id="82" idx="6"/>
              <a:endCxn id="28" idx="2"/>
            </p:cNvCxnSpPr>
            <p:nvPr/>
          </p:nvCxnSpPr>
          <p:spPr>
            <a:xfrm flipV="1">
              <a:off x="4839235" y="1828613"/>
              <a:ext cx="1023162" cy="461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A6CFB10-0EB9-B923-78BC-E567900BC6E9}"/>
                </a:ext>
              </a:extLst>
            </p:cNvPr>
            <p:cNvCxnSpPr>
              <a:cxnSpLocks/>
              <a:stCxn id="18" idx="3"/>
              <a:endCxn id="27" idx="2"/>
            </p:cNvCxnSpPr>
            <p:nvPr/>
          </p:nvCxnSpPr>
          <p:spPr>
            <a:xfrm>
              <a:off x="2384293" y="1833222"/>
              <a:ext cx="579987" cy="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2D2C4F0-DF83-4ECF-07AE-5EB0A299DB68}"/>
                </a:ext>
              </a:extLst>
            </p:cNvPr>
            <p:cNvCxnSpPr>
              <a:cxnSpLocks/>
            </p:cNvCxnSpPr>
            <p:nvPr/>
          </p:nvCxnSpPr>
          <p:spPr>
            <a:xfrm>
              <a:off x="2367355" y="3261030"/>
              <a:ext cx="579600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E1CB2B3-5963-9A20-D3D9-E650DB7E5A66}"/>
                </a:ext>
              </a:extLst>
            </p:cNvPr>
            <p:cNvCxnSpPr>
              <a:cxnSpLocks/>
              <a:stCxn id="29" idx="6"/>
              <a:endCxn id="30" idx="2"/>
            </p:cNvCxnSpPr>
            <p:nvPr/>
          </p:nvCxnSpPr>
          <p:spPr>
            <a:xfrm>
              <a:off x="3378279" y="3262276"/>
              <a:ext cx="1525775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2C0F7A4-BD1E-DDDD-8E76-E757CDD679A0}"/>
                </a:ext>
              </a:extLst>
            </p:cNvPr>
            <p:cNvCxnSpPr>
              <a:cxnSpLocks/>
              <a:stCxn id="30" idx="6"/>
              <a:endCxn id="71" idx="2"/>
            </p:cNvCxnSpPr>
            <p:nvPr/>
          </p:nvCxnSpPr>
          <p:spPr>
            <a:xfrm>
              <a:off x="5318053" y="3262276"/>
              <a:ext cx="1990645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4131AFE-88C6-1660-7FB4-F8BC9E4C53A0}"/>
                </a:ext>
              </a:extLst>
            </p:cNvPr>
            <p:cNvCxnSpPr>
              <a:cxnSpLocks/>
              <a:stCxn id="20" idx="1"/>
              <a:endCxn id="32" idx="2"/>
            </p:cNvCxnSpPr>
            <p:nvPr/>
          </p:nvCxnSpPr>
          <p:spPr>
            <a:xfrm>
              <a:off x="2347300" y="4743267"/>
              <a:ext cx="616980" cy="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4DECCC8-67E4-93CC-0EFB-3930431FA1C3}"/>
                </a:ext>
              </a:extLst>
            </p:cNvPr>
            <p:cNvCxnSpPr>
              <a:cxnSpLocks/>
              <a:stCxn id="32" idx="6"/>
              <a:endCxn id="75" idx="1"/>
            </p:cNvCxnSpPr>
            <p:nvPr/>
          </p:nvCxnSpPr>
          <p:spPr>
            <a:xfrm>
              <a:off x="3378279" y="4743268"/>
              <a:ext cx="521334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A369D8D-DC9E-BDE9-5B7A-0D99DE774708}"/>
                </a:ext>
              </a:extLst>
            </p:cNvPr>
            <p:cNvCxnSpPr>
              <a:cxnSpLocks/>
              <a:stCxn id="80" idx="6"/>
              <a:endCxn id="33" idx="2"/>
            </p:cNvCxnSpPr>
            <p:nvPr/>
          </p:nvCxnSpPr>
          <p:spPr>
            <a:xfrm>
              <a:off x="4366258" y="4743268"/>
              <a:ext cx="548427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B706B32-DDBB-AE2C-F4AA-7BCBF0875910}"/>
                </a:ext>
              </a:extLst>
            </p:cNvPr>
            <p:cNvCxnSpPr>
              <a:cxnSpLocks/>
              <a:stCxn id="33" idx="6"/>
              <a:endCxn id="31" idx="2"/>
            </p:cNvCxnSpPr>
            <p:nvPr/>
          </p:nvCxnSpPr>
          <p:spPr>
            <a:xfrm>
              <a:off x="5328684" y="4743268"/>
              <a:ext cx="533713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>
              <a:extLst>
                <a:ext uri="{FF2B5EF4-FFF2-40B4-BE49-F238E27FC236}">
                  <a16:creationId xmlns:a16="http://schemas.microsoft.com/office/drawing/2014/main" id="{BB9896AC-C848-620F-86A6-BD034DB3A936}"/>
                </a:ext>
              </a:extLst>
            </p:cNvPr>
            <p:cNvCxnSpPr>
              <a:cxnSpLocks/>
              <a:stCxn id="31" idx="6"/>
              <a:endCxn id="71" idx="4"/>
            </p:cNvCxnSpPr>
            <p:nvPr/>
          </p:nvCxnSpPr>
          <p:spPr>
            <a:xfrm flipV="1">
              <a:off x="6276396" y="3469275"/>
              <a:ext cx="1239302" cy="1273993"/>
            </a:xfrm>
            <a:prstGeom prst="curvedConnector2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051B868-714D-EF7B-EA60-86B93AD47C4A}"/>
                </a:ext>
              </a:extLst>
            </p:cNvPr>
            <p:cNvCxnSpPr>
              <a:cxnSpLocks/>
              <a:stCxn id="71" idx="6"/>
              <a:endCxn id="36" idx="2"/>
            </p:cNvCxnSpPr>
            <p:nvPr/>
          </p:nvCxnSpPr>
          <p:spPr>
            <a:xfrm>
              <a:off x="7722697" y="3262276"/>
              <a:ext cx="468768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6FBE374-22E8-8881-1961-80D02B1D2024}"/>
                </a:ext>
              </a:extLst>
            </p:cNvPr>
            <p:cNvCxnSpPr>
              <a:cxnSpLocks/>
              <a:stCxn id="36" idx="6"/>
              <a:endCxn id="34" idx="2"/>
            </p:cNvCxnSpPr>
            <p:nvPr/>
          </p:nvCxnSpPr>
          <p:spPr>
            <a:xfrm>
              <a:off x="8605464" y="3262276"/>
              <a:ext cx="439917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1DC292A-BFD1-DD1D-775E-EA6279CD3D92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9459380" y="3262275"/>
              <a:ext cx="439917" cy="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026FDF1-5EB3-117A-8099-30964914A5D7}"/>
                </a:ext>
              </a:extLst>
            </p:cNvPr>
            <p:cNvCxnSpPr>
              <a:cxnSpLocks/>
              <a:stCxn id="37" idx="6"/>
              <a:endCxn id="35" idx="2"/>
            </p:cNvCxnSpPr>
            <p:nvPr/>
          </p:nvCxnSpPr>
          <p:spPr>
            <a:xfrm>
              <a:off x="10313296" y="3262275"/>
              <a:ext cx="439919" cy="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hlinkClick r:id="rId9"/>
              <a:extLst>
                <a:ext uri="{FF2B5EF4-FFF2-40B4-BE49-F238E27FC236}">
                  <a16:creationId xmlns:a16="http://schemas.microsoft.com/office/drawing/2014/main" id="{AE5A1C90-1A94-1802-E106-28CEB244A1E8}"/>
                </a:ext>
              </a:extLst>
            </p:cNvPr>
            <p:cNvSpPr/>
            <p:nvPr/>
          </p:nvSpPr>
          <p:spPr>
            <a:xfrm>
              <a:off x="8191465" y="3055276"/>
              <a:ext cx="413999" cy="413999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FR" sz="1200" b="1" dirty="0">
                  <a:solidFill>
                    <a:schemeClr val="bg1">
                      <a:lumMod val="85000"/>
                    </a:schemeClr>
                  </a:solidFill>
                </a:rPr>
                <a:t>VPS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D9F035-90BF-C312-4E6B-84E9476AE7AD}"/>
              </a:ext>
            </a:extLst>
          </p:cNvPr>
          <p:cNvSpPr txBox="1"/>
          <p:nvPr/>
        </p:nvSpPr>
        <p:spPr>
          <a:xfrm>
            <a:off x="4514027" y="126164"/>
            <a:ext cx="1187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/>
              <a:t>Léon</a:t>
            </a:r>
            <a:br>
              <a:rPr lang="en-FR" sz="1200"/>
            </a:br>
            <a:r>
              <a:rPr lang="en-FR" sz="1200"/>
              <a:t>MLOPs lead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2B978-F8E0-2057-5845-E58FF863C6DC}"/>
              </a:ext>
            </a:extLst>
          </p:cNvPr>
          <p:cNvSpPr/>
          <p:nvPr/>
        </p:nvSpPr>
        <p:spPr>
          <a:xfrm>
            <a:off x="0" y="-1"/>
            <a:ext cx="12192000" cy="1271752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63" name="Graphic 62" descr="Database with solid fill">
            <a:hlinkClick r:id="rId10"/>
            <a:extLst>
              <a:ext uri="{FF2B5EF4-FFF2-40B4-BE49-F238E27FC236}">
                <a16:creationId xmlns:a16="http://schemas.microsoft.com/office/drawing/2014/main" id="{8257CFFE-FA7A-1ACD-6BFA-536E77101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6635" y="3391105"/>
            <a:ext cx="803025" cy="80302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17E2DE9D-78C1-5E8E-DD85-6BB45564C0B0}"/>
              </a:ext>
            </a:extLst>
          </p:cNvPr>
          <p:cNvSpPr txBox="1"/>
          <p:nvPr/>
        </p:nvSpPr>
        <p:spPr>
          <a:xfrm>
            <a:off x="1348619" y="4106547"/>
            <a:ext cx="1279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>
                <a:solidFill>
                  <a:schemeClr val="accent1"/>
                </a:solidFill>
              </a:rPr>
              <a:t>Données de la sécuritée routière sur gouv.fr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79A2835-1A51-17CF-A7D8-E3EFCF244C1B}"/>
              </a:ext>
            </a:extLst>
          </p:cNvPr>
          <p:cNvSpPr/>
          <p:nvPr/>
        </p:nvSpPr>
        <p:spPr>
          <a:xfrm>
            <a:off x="1404284" y="2232966"/>
            <a:ext cx="224590" cy="224590"/>
          </a:xfrm>
          <a:prstGeom prst="ellipse">
            <a:avLst/>
          </a:prstGeom>
          <a:solidFill>
            <a:schemeClr val="accent1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/>
              <a:t>2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DD0722E-7296-FB83-330D-20F83D8CB5D1}"/>
              </a:ext>
            </a:extLst>
          </p:cNvPr>
          <p:cNvSpPr/>
          <p:nvPr/>
        </p:nvSpPr>
        <p:spPr>
          <a:xfrm>
            <a:off x="1404284" y="3662019"/>
            <a:ext cx="224590" cy="224590"/>
          </a:xfrm>
          <a:prstGeom prst="ellipse">
            <a:avLst/>
          </a:prstGeom>
          <a:solidFill>
            <a:schemeClr val="accent1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/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0962403-8DD6-A321-CB8F-02CBDE2498A4}"/>
              </a:ext>
            </a:extLst>
          </p:cNvPr>
          <p:cNvSpPr/>
          <p:nvPr/>
        </p:nvSpPr>
        <p:spPr>
          <a:xfrm>
            <a:off x="1404284" y="5143011"/>
            <a:ext cx="224590" cy="224590"/>
          </a:xfrm>
          <a:prstGeom prst="ellipse">
            <a:avLst/>
          </a:prstGeom>
          <a:solidFill>
            <a:schemeClr val="accent1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/>
              <a:t>3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251EE7E0-BBD7-4F3D-E0FA-0AF844C9FA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rgbClr val="156082">
                <a:shade val="45000"/>
                <a:satMod val="135000"/>
              </a:srgbClr>
              <a:prstClr val="white"/>
            </a:duotone>
          </a:blip>
          <a:srcRect l="22690" r="23838"/>
          <a:stretch>
            <a:fillRect/>
          </a:stretch>
        </p:blipFill>
        <p:spPr>
          <a:xfrm>
            <a:off x="1592002" y="1999436"/>
            <a:ext cx="792291" cy="69165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461D595E-CFB9-9A15-3B7F-146962F4D248}"/>
              </a:ext>
            </a:extLst>
          </p:cNvPr>
          <p:cNvSpPr txBox="1"/>
          <p:nvPr/>
        </p:nvSpPr>
        <p:spPr>
          <a:xfrm>
            <a:off x="1378548" y="2667022"/>
            <a:ext cx="12191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>
                <a:solidFill>
                  <a:schemeClr val="accent1"/>
                </a:solidFill>
              </a:rPr>
              <a:t>Elon</a:t>
            </a:r>
            <a:br>
              <a:rPr lang="en-FR" sz="1000">
                <a:solidFill>
                  <a:schemeClr val="accent1"/>
                </a:solidFill>
              </a:rPr>
            </a:br>
            <a:r>
              <a:rPr lang="en-GB" sz="1000">
                <a:solidFill>
                  <a:schemeClr val="accent1"/>
                </a:solidFill>
              </a:rPr>
              <a:t>Branche Git MLOps </a:t>
            </a:r>
            <a:endParaRPr lang="en-FR" sz="800">
              <a:solidFill>
                <a:schemeClr val="accent1"/>
              </a:solidFill>
            </a:endParaRP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85881986-5252-A0A3-6ECE-F2B301E0B12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>
          <a:xfrm flipH="1">
            <a:off x="1628994" y="4909481"/>
            <a:ext cx="718306" cy="691650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4FC9121A-EF13-C412-2A6D-BCEAE1578BA4}"/>
              </a:ext>
            </a:extLst>
          </p:cNvPr>
          <p:cNvSpPr txBox="1"/>
          <p:nvPr/>
        </p:nvSpPr>
        <p:spPr>
          <a:xfrm>
            <a:off x="1348619" y="5514516"/>
            <a:ext cx="12191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>
                <a:solidFill>
                  <a:schemeClr val="accent1"/>
                </a:solidFill>
              </a:rPr>
              <a:t>Lucie</a:t>
            </a:r>
            <a:br>
              <a:rPr lang="en-FR" sz="1000">
                <a:solidFill>
                  <a:schemeClr val="accent1"/>
                </a:solidFill>
              </a:rPr>
            </a:br>
            <a:r>
              <a:rPr lang="en-GB" sz="800">
                <a:solidFill>
                  <a:schemeClr val="accent1"/>
                </a:solidFill>
              </a:rPr>
              <a:t>Branche Git</a:t>
            </a:r>
            <a:br>
              <a:rPr lang="en-GB" sz="800">
                <a:solidFill>
                  <a:schemeClr val="accent1"/>
                </a:solidFill>
              </a:rPr>
            </a:br>
            <a:r>
              <a:rPr lang="en-GB" sz="800">
                <a:solidFill>
                  <a:schemeClr val="accent1"/>
                </a:solidFill>
              </a:rPr>
              <a:t>DS</a:t>
            </a:r>
            <a:endParaRPr lang="en-FR" sz="800">
              <a:solidFill>
                <a:schemeClr val="accent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B0CDEE-6618-24E2-8D6F-A528B54CBB35}"/>
              </a:ext>
            </a:extLst>
          </p:cNvPr>
          <p:cNvSpPr txBox="1"/>
          <p:nvPr/>
        </p:nvSpPr>
        <p:spPr>
          <a:xfrm>
            <a:off x="417536" y="3605037"/>
            <a:ext cx="95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>
                <a:solidFill>
                  <a:schemeClr val="accent1"/>
                </a:solidFill>
              </a:rPr>
              <a:t>Trigger nouvelles données</a:t>
            </a:r>
            <a:endParaRPr lang="en-FR" sz="800" baseline="30000">
              <a:solidFill>
                <a:schemeClr val="accent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D5A474-8E9C-ED3C-6F1E-EE48557FE9F4}"/>
              </a:ext>
            </a:extLst>
          </p:cNvPr>
          <p:cNvSpPr txBox="1"/>
          <p:nvPr/>
        </p:nvSpPr>
        <p:spPr>
          <a:xfrm>
            <a:off x="277423" y="5086029"/>
            <a:ext cx="1096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chemeClr val="accent1"/>
                </a:solidFill>
              </a:rPr>
              <a:t>Trigger nouveau modèle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0C8A78-191C-F481-E648-2D631ED1D8F0}"/>
              </a:ext>
            </a:extLst>
          </p:cNvPr>
          <p:cNvSpPr txBox="1"/>
          <p:nvPr/>
        </p:nvSpPr>
        <p:spPr>
          <a:xfrm>
            <a:off x="417536" y="2175984"/>
            <a:ext cx="95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>
                <a:solidFill>
                  <a:schemeClr val="accent1"/>
                </a:solidFill>
              </a:rPr>
              <a:t>Trigger nouveau code</a:t>
            </a:r>
            <a:endParaRPr lang="en-FR" sz="800" baseline="3000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6D805-CD29-1289-5FD6-81D437A78875}"/>
              </a:ext>
            </a:extLst>
          </p:cNvPr>
          <p:cNvSpPr txBox="1"/>
          <p:nvPr/>
        </p:nvSpPr>
        <p:spPr>
          <a:xfrm>
            <a:off x="0" y="440357"/>
            <a:ext cx="9590049" cy="646331"/>
          </a:xfrm>
          <a:prstGeom prst="rect">
            <a:avLst/>
          </a:prstGeom>
          <a:noFill/>
        </p:spPr>
        <p:txBody>
          <a:bodyPr wrap="square" lIns="288000">
            <a:spAutoFit/>
          </a:bodyPr>
          <a:lstStyle/>
          <a:p>
            <a:r>
              <a:rPr lang="en-FR" sz="2400" b="1" dirty="0">
                <a:solidFill>
                  <a:srgbClr val="156082"/>
                </a:solidFill>
              </a:rPr>
              <a:t>Flux MLOps &amp; Collaboratifs</a:t>
            </a:r>
            <a:br>
              <a:rPr lang="en-FR" sz="2400" b="1" dirty="0">
                <a:solidFill>
                  <a:srgbClr val="156082"/>
                </a:solidFill>
              </a:rPr>
            </a:br>
            <a:r>
              <a:rPr lang="en-FR" sz="1200" dirty="0">
                <a:solidFill>
                  <a:srgbClr val="156082"/>
                </a:solidFill>
              </a:rPr>
              <a:t>Fondamentaux de la solution #2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5B5BCBB-8384-0281-AEA0-5659CBAB81C0}"/>
              </a:ext>
            </a:extLst>
          </p:cNvPr>
          <p:cNvGrpSpPr/>
          <p:nvPr/>
        </p:nvGrpSpPr>
        <p:grpSpPr>
          <a:xfrm>
            <a:off x="4372590" y="2124252"/>
            <a:ext cx="495496" cy="442019"/>
            <a:chOff x="6586150" y="3516702"/>
            <a:chExt cx="495496" cy="442019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FCA1DA8-5DF4-4427-B926-227F66320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447"/>
            <a:stretch/>
          </p:blipFill>
          <p:spPr>
            <a:xfrm>
              <a:off x="6586150" y="3516702"/>
              <a:ext cx="495496" cy="442019"/>
            </a:xfrm>
            <a:prstGeom prst="rect">
              <a:avLst/>
            </a:prstGeom>
            <a:noFill/>
          </p:spPr>
        </p:pic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71A47FE-D065-594F-81FE-56BB746F251D}"/>
                </a:ext>
              </a:extLst>
            </p:cNvPr>
            <p:cNvSpPr/>
            <p:nvPr/>
          </p:nvSpPr>
          <p:spPr>
            <a:xfrm>
              <a:off x="6638796" y="3530712"/>
              <a:ext cx="413999" cy="413999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C0D3BB8-039E-A347-815E-D1778C47BF73}"/>
              </a:ext>
            </a:extLst>
          </p:cNvPr>
          <p:cNvGrpSpPr/>
          <p:nvPr/>
        </p:nvGrpSpPr>
        <p:grpSpPr>
          <a:xfrm>
            <a:off x="3899613" y="5034297"/>
            <a:ext cx="495496" cy="442019"/>
            <a:chOff x="6586150" y="3516702"/>
            <a:chExt cx="495496" cy="442019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44278E9-5D80-AF90-1C6A-1B401C11E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447"/>
            <a:stretch/>
          </p:blipFill>
          <p:spPr>
            <a:xfrm>
              <a:off x="6586150" y="3516702"/>
              <a:ext cx="495496" cy="442019"/>
            </a:xfrm>
            <a:prstGeom prst="rect">
              <a:avLst/>
            </a:prstGeom>
            <a:noFill/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1D4C2D2-605C-A7BA-1AF1-11D19D72EEEC}"/>
                </a:ext>
              </a:extLst>
            </p:cNvPr>
            <p:cNvSpPr/>
            <p:nvPr/>
          </p:nvSpPr>
          <p:spPr>
            <a:xfrm>
              <a:off x="6638796" y="3530712"/>
              <a:ext cx="413999" cy="413999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71C1020-F4FF-DD86-1A8A-CDAD7239A1E2}"/>
              </a:ext>
            </a:extLst>
          </p:cNvPr>
          <p:cNvGrpSpPr/>
          <p:nvPr/>
        </p:nvGrpSpPr>
        <p:grpSpPr>
          <a:xfrm>
            <a:off x="7256052" y="3553305"/>
            <a:ext cx="495496" cy="442019"/>
            <a:chOff x="6586150" y="3516702"/>
            <a:chExt cx="495496" cy="442019"/>
          </a:xfrm>
        </p:grpSpPr>
        <p:pic>
          <p:nvPicPr>
            <p:cNvPr id="59" name="Picture 58">
              <a:hlinkClick r:id="rId12" action="ppaction://hlinksldjump"/>
              <a:extLst>
                <a:ext uri="{FF2B5EF4-FFF2-40B4-BE49-F238E27FC236}">
                  <a16:creationId xmlns:a16="http://schemas.microsoft.com/office/drawing/2014/main" id="{5ADDE09B-EEBF-E83F-E0D6-FD3D8F798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447"/>
            <a:stretch/>
          </p:blipFill>
          <p:spPr>
            <a:xfrm>
              <a:off x="6586150" y="3516702"/>
              <a:ext cx="495496" cy="442019"/>
            </a:xfrm>
            <a:prstGeom prst="rect">
              <a:avLst/>
            </a:prstGeom>
            <a:noFill/>
          </p:spPr>
        </p:pic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3BAF4B3-7EA1-B011-4F5D-73E5C5175798}"/>
                </a:ext>
              </a:extLst>
            </p:cNvPr>
            <p:cNvSpPr/>
            <p:nvPr/>
          </p:nvSpPr>
          <p:spPr>
            <a:xfrm>
              <a:off x="6638796" y="3530712"/>
              <a:ext cx="413999" cy="413999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64" name="Oval 63">
            <a:hlinkClick r:id="rId7"/>
            <a:extLst>
              <a:ext uri="{FF2B5EF4-FFF2-40B4-BE49-F238E27FC236}">
                <a16:creationId xmlns:a16="http://schemas.microsoft.com/office/drawing/2014/main" id="{B4183BD8-39B7-6B27-9D87-75E355DF237D}"/>
              </a:ext>
            </a:extLst>
          </p:cNvPr>
          <p:cNvSpPr/>
          <p:nvPr/>
        </p:nvSpPr>
        <p:spPr>
          <a:xfrm>
            <a:off x="2964279" y="2138514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 dirty="0">
                <a:solidFill>
                  <a:schemeClr val="accent1"/>
                </a:solidFill>
              </a:rPr>
              <a:t>CI</a:t>
            </a:r>
          </a:p>
        </p:txBody>
      </p:sp>
      <p:sp>
        <p:nvSpPr>
          <p:cNvPr id="65" name="Oval 64">
            <a:hlinkClick r:id="rId7"/>
            <a:extLst>
              <a:ext uri="{FF2B5EF4-FFF2-40B4-BE49-F238E27FC236}">
                <a16:creationId xmlns:a16="http://schemas.microsoft.com/office/drawing/2014/main" id="{2E105EDD-1157-02F0-14FB-3402995CC1A8}"/>
              </a:ext>
            </a:extLst>
          </p:cNvPr>
          <p:cNvSpPr/>
          <p:nvPr/>
        </p:nvSpPr>
        <p:spPr>
          <a:xfrm>
            <a:off x="5862397" y="2133652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CD</a:t>
            </a:r>
          </a:p>
        </p:txBody>
      </p:sp>
      <p:sp>
        <p:nvSpPr>
          <p:cNvPr id="66" name="Oval 65">
            <a:hlinkClick r:id="rId8"/>
            <a:extLst>
              <a:ext uri="{FF2B5EF4-FFF2-40B4-BE49-F238E27FC236}">
                <a16:creationId xmlns:a16="http://schemas.microsoft.com/office/drawing/2014/main" id="{8DE80E9A-17C0-20CA-7FEC-0105138E1B91}"/>
              </a:ext>
            </a:extLst>
          </p:cNvPr>
          <p:cNvSpPr/>
          <p:nvPr/>
        </p:nvSpPr>
        <p:spPr>
          <a:xfrm>
            <a:off x="2964280" y="3567315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ETL</a:t>
            </a:r>
          </a:p>
        </p:txBody>
      </p:sp>
      <p:sp>
        <p:nvSpPr>
          <p:cNvPr id="67" name="Oval 66">
            <a:hlinkClick r:id="rId13"/>
            <a:extLst>
              <a:ext uri="{FF2B5EF4-FFF2-40B4-BE49-F238E27FC236}">
                <a16:creationId xmlns:a16="http://schemas.microsoft.com/office/drawing/2014/main" id="{FC3F7D3A-6917-3379-0277-0E7EC1CFAC31}"/>
              </a:ext>
            </a:extLst>
          </p:cNvPr>
          <p:cNvSpPr/>
          <p:nvPr/>
        </p:nvSpPr>
        <p:spPr>
          <a:xfrm>
            <a:off x="4904054" y="3567315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TR.</a:t>
            </a:r>
          </a:p>
        </p:txBody>
      </p:sp>
      <p:sp>
        <p:nvSpPr>
          <p:cNvPr id="68" name="Oval 67">
            <a:hlinkClick r:id="rId13"/>
            <a:extLst>
              <a:ext uri="{FF2B5EF4-FFF2-40B4-BE49-F238E27FC236}">
                <a16:creationId xmlns:a16="http://schemas.microsoft.com/office/drawing/2014/main" id="{8484E28F-3DAF-EC0C-8C59-25F90E0E5580}"/>
              </a:ext>
            </a:extLst>
          </p:cNvPr>
          <p:cNvSpPr/>
          <p:nvPr/>
        </p:nvSpPr>
        <p:spPr>
          <a:xfrm>
            <a:off x="5862397" y="5048307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TR.</a:t>
            </a:r>
          </a:p>
        </p:txBody>
      </p:sp>
      <p:sp>
        <p:nvSpPr>
          <p:cNvPr id="69" name="Oval 68">
            <a:hlinkClick r:id="rId7"/>
            <a:extLst>
              <a:ext uri="{FF2B5EF4-FFF2-40B4-BE49-F238E27FC236}">
                <a16:creationId xmlns:a16="http://schemas.microsoft.com/office/drawing/2014/main" id="{50AC0248-7A5C-4F41-F20B-693BE5959689}"/>
              </a:ext>
            </a:extLst>
          </p:cNvPr>
          <p:cNvSpPr/>
          <p:nvPr/>
        </p:nvSpPr>
        <p:spPr>
          <a:xfrm>
            <a:off x="2964280" y="5048307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CI</a:t>
            </a:r>
          </a:p>
        </p:txBody>
      </p:sp>
      <p:sp>
        <p:nvSpPr>
          <p:cNvPr id="72" name="Oval 71">
            <a:hlinkClick r:id="rId7"/>
            <a:extLst>
              <a:ext uri="{FF2B5EF4-FFF2-40B4-BE49-F238E27FC236}">
                <a16:creationId xmlns:a16="http://schemas.microsoft.com/office/drawing/2014/main" id="{05455646-3AB4-FC45-E8DC-803E22F1AE9A}"/>
              </a:ext>
            </a:extLst>
          </p:cNvPr>
          <p:cNvSpPr/>
          <p:nvPr/>
        </p:nvSpPr>
        <p:spPr>
          <a:xfrm>
            <a:off x="4914685" y="5048307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CD</a:t>
            </a:r>
          </a:p>
        </p:txBody>
      </p:sp>
      <p:sp>
        <p:nvSpPr>
          <p:cNvPr id="73" name="Oval 72">
            <a:hlinkClick r:id="rId7"/>
            <a:extLst>
              <a:ext uri="{FF2B5EF4-FFF2-40B4-BE49-F238E27FC236}">
                <a16:creationId xmlns:a16="http://schemas.microsoft.com/office/drawing/2014/main" id="{62424B38-CA30-7B4A-AA16-5622BEC886F3}"/>
              </a:ext>
            </a:extLst>
          </p:cNvPr>
          <p:cNvSpPr/>
          <p:nvPr/>
        </p:nvSpPr>
        <p:spPr>
          <a:xfrm>
            <a:off x="9045381" y="3567315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FTe</a:t>
            </a:r>
          </a:p>
        </p:txBody>
      </p:sp>
      <p:sp>
        <p:nvSpPr>
          <p:cNvPr id="74" name="Oval 73">
            <a:hlinkClick r:id="rId7"/>
            <a:extLst>
              <a:ext uri="{FF2B5EF4-FFF2-40B4-BE49-F238E27FC236}">
                <a16:creationId xmlns:a16="http://schemas.microsoft.com/office/drawing/2014/main" id="{835985AD-BE0E-5BA1-546A-01A1CEFCD3E9}"/>
              </a:ext>
            </a:extLst>
          </p:cNvPr>
          <p:cNvSpPr/>
          <p:nvPr/>
        </p:nvSpPr>
        <p:spPr>
          <a:xfrm>
            <a:off x="10753215" y="3567315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FTe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BF85104-6486-3D67-361F-12320E99879D}"/>
              </a:ext>
            </a:extLst>
          </p:cNvPr>
          <p:cNvSpPr/>
          <p:nvPr/>
        </p:nvSpPr>
        <p:spPr>
          <a:xfrm>
            <a:off x="8191465" y="3567315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VPS</a:t>
            </a:r>
          </a:p>
        </p:txBody>
      </p:sp>
      <p:sp>
        <p:nvSpPr>
          <p:cNvPr id="77" name="Oval 76">
            <a:hlinkClick r:id="rId14"/>
            <a:extLst>
              <a:ext uri="{FF2B5EF4-FFF2-40B4-BE49-F238E27FC236}">
                <a16:creationId xmlns:a16="http://schemas.microsoft.com/office/drawing/2014/main" id="{014B5CFA-E1DA-6C39-BB63-123A170C8A0F}"/>
              </a:ext>
            </a:extLst>
          </p:cNvPr>
          <p:cNvSpPr/>
          <p:nvPr/>
        </p:nvSpPr>
        <p:spPr>
          <a:xfrm>
            <a:off x="9899297" y="3567314"/>
            <a:ext cx="413999" cy="41399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FR" sz="1200" b="1">
                <a:solidFill>
                  <a:schemeClr val="accent1"/>
                </a:solidFill>
              </a:rPr>
              <a:t>K8s</a:t>
            </a:r>
          </a:p>
        </p:txBody>
      </p:sp>
      <p:cxnSp>
        <p:nvCxnSpPr>
          <p:cNvPr id="78" name="Curved Connector 77">
            <a:extLst>
              <a:ext uri="{FF2B5EF4-FFF2-40B4-BE49-F238E27FC236}">
                <a16:creationId xmlns:a16="http://schemas.microsoft.com/office/drawing/2014/main" id="{CCD99091-D5D0-CD23-4777-6467C67EDCE4}"/>
              </a:ext>
            </a:extLst>
          </p:cNvPr>
          <p:cNvCxnSpPr>
            <a:cxnSpLocks/>
            <a:stCxn id="65" idx="6"/>
            <a:endCxn id="59" idx="0"/>
          </p:cNvCxnSpPr>
          <p:nvPr/>
        </p:nvCxnSpPr>
        <p:spPr>
          <a:xfrm>
            <a:off x="6276396" y="2340652"/>
            <a:ext cx="1227404" cy="1212653"/>
          </a:xfrm>
          <a:prstGeom prst="curvedConnector2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5AA3476-C9F9-475C-C7BA-D399B4E9D068}"/>
              </a:ext>
            </a:extLst>
          </p:cNvPr>
          <p:cNvCxnSpPr>
            <a:cxnSpLocks/>
            <a:stCxn id="64" idx="6"/>
            <a:endCxn id="53" idx="2"/>
          </p:cNvCxnSpPr>
          <p:nvPr/>
        </p:nvCxnSpPr>
        <p:spPr>
          <a:xfrm flipV="1">
            <a:off x="3378278" y="2345262"/>
            <a:ext cx="1046958" cy="25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A17CA3F-2475-5C45-EDD4-3218FD96C76B}"/>
              </a:ext>
            </a:extLst>
          </p:cNvPr>
          <p:cNvCxnSpPr>
            <a:cxnSpLocks/>
            <a:stCxn id="53" idx="6"/>
            <a:endCxn id="65" idx="2"/>
          </p:cNvCxnSpPr>
          <p:nvPr/>
        </p:nvCxnSpPr>
        <p:spPr>
          <a:xfrm flipV="1">
            <a:off x="4839235" y="2340652"/>
            <a:ext cx="1023162" cy="461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AB8BB49-6852-9AC4-58E5-29A3716C1DDA}"/>
              </a:ext>
            </a:extLst>
          </p:cNvPr>
          <p:cNvCxnSpPr>
            <a:cxnSpLocks/>
            <a:stCxn id="97" idx="3"/>
            <a:endCxn id="64" idx="2"/>
          </p:cNvCxnSpPr>
          <p:nvPr/>
        </p:nvCxnSpPr>
        <p:spPr>
          <a:xfrm>
            <a:off x="2384293" y="2345261"/>
            <a:ext cx="579986" cy="253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242D90A-6726-4820-EEC2-27549D968795}"/>
              </a:ext>
            </a:extLst>
          </p:cNvPr>
          <p:cNvCxnSpPr>
            <a:cxnSpLocks/>
          </p:cNvCxnSpPr>
          <p:nvPr/>
        </p:nvCxnSpPr>
        <p:spPr>
          <a:xfrm>
            <a:off x="2367355" y="3773069"/>
            <a:ext cx="57960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A132A23-38FC-2B67-025C-9B162E567677}"/>
              </a:ext>
            </a:extLst>
          </p:cNvPr>
          <p:cNvCxnSpPr>
            <a:cxnSpLocks/>
            <a:stCxn id="66" idx="6"/>
            <a:endCxn id="67" idx="2"/>
          </p:cNvCxnSpPr>
          <p:nvPr/>
        </p:nvCxnSpPr>
        <p:spPr>
          <a:xfrm>
            <a:off x="3378279" y="3774315"/>
            <a:ext cx="1525775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837FA56-A300-9731-9643-6A33AF37173C}"/>
              </a:ext>
            </a:extLst>
          </p:cNvPr>
          <p:cNvCxnSpPr>
            <a:cxnSpLocks/>
            <a:stCxn id="67" idx="6"/>
            <a:endCxn id="60" idx="2"/>
          </p:cNvCxnSpPr>
          <p:nvPr/>
        </p:nvCxnSpPr>
        <p:spPr>
          <a:xfrm>
            <a:off x="5318053" y="3774315"/>
            <a:ext cx="1990645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3E9CF52-73B2-C338-F16C-6325326BE9CE}"/>
              </a:ext>
            </a:extLst>
          </p:cNvPr>
          <p:cNvCxnSpPr>
            <a:cxnSpLocks/>
            <a:stCxn id="99" idx="1"/>
            <a:endCxn id="69" idx="2"/>
          </p:cNvCxnSpPr>
          <p:nvPr/>
        </p:nvCxnSpPr>
        <p:spPr>
          <a:xfrm>
            <a:off x="2347300" y="5255306"/>
            <a:ext cx="616980" cy="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20C8B5E-8F11-52DF-4A90-8E85206BFF93}"/>
              </a:ext>
            </a:extLst>
          </p:cNvPr>
          <p:cNvCxnSpPr>
            <a:cxnSpLocks/>
            <a:stCxn id="69" idx="6"/>
            <a:endCxn id="56" idx="1"/>
          </p:cNvCxnSpPr>
          <p:nvPr/>
        </p:nvCxnSpPr>
        <p:spPr>
          <a:xfrm>
            <a:off x="3378279" y="5255307"/>
            <a:ext cx="521334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5A7C7B6-F2AD-A182-8CD4-F0FB102F789D}"/>
              </a:ext>
            </a:extLst>
          </p:cNvPr>
          <p:cNvCxnSpPr>
            <a:cxnSpLocks/>
            <a:stCxn id="57" idx="6"/>
            <a:endCxn id="72" idx="2"/>
          </p:cNvCxnSpPr>
          <p:nvPr/>
        </p:nvCxnSpPr>
        <p:spPr>
          <a:xfrm>
            <a:off x="4366258" y="5255307"/>
            <a:ext cx="54842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4EB31995-A98C-16E0-DC8B-CCB8A7A567FB}"/>
              </a:ext>
            </a:extLst>
          </p:cNvPr>
          <p:cNvCxnSpPr>
            <a:cxnSpLocks/>
            <a:stCxn id="72" idx="6"/>
            <a:endCxn id="68" idx="2"/>
          </p:cNvCxnSpPr>
          <p:nvPr/>
        </p:nvCxnSpPr>
        <p:spPr>
          <a:xfrm>
            <a:off x="5328684" y="5255307"/>
            <a:ext cx="533713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urved Connector 133">
            <a:extLst>
              <a:ext uri="{FF2B5EF4-FFF2-40B4-BE49-F238E27FC236}">
                <a16:creationId xmlns:a16="http://schemas.microsoft.com/office/drawing/2014/main" id="{DE811A16-A3E1-0F1B-DF08-FD574F057849}"/>
              </a:ext>
            </a:extLst>
          </p:cNvPr>
          <p:cNvCxnSpPr>
            <a:cxnSpLocks/>
            <a:stCxn id="68" idx="6"/>
            <a:endCxn id="60" idx="4"/>
          </p:cNvCxnSpPr>
          <p:nvPr/>
        </p:nvCxnSpPr>
        <p:spPr>
          <a:xfrm flipV="1">
            <a:off x="6276396" y="3981314"/>
            <a:ext cx="1239302" cy="1273993"/>
          </a:xfrm>
          <a:prstGeom prst="curvedConnector2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6AD06AD-EA78-0A2B-2D43-320A40F52153}"/>
              </a:ext>
            </a:extLst>
          </p:cNvPr>
          <p:cNvCxnSpPr>
            <a:cxnSpLocks/>
            <a:stCxn id="60" idx="6"/>
            <a:endCxn id="76" idx="2"/>
          </p:cNvCxnSpPr>
          <p:nvPr/>
        </p:nvCxnSpPr>
        <p:spPr>
          <a:xfrm>
            <a:off x="7722697" y="3774315"/>
            <a:ext cx="46876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34E2F08-8E6C-8AF0-9A79-9FC44E49FF0B}"/>
              </a:ext>
            </a:extLst>
          </p:cNvPr>
          <p:cNvCxnSpPr>
            <a:cxnSpLocks/>
            <a:stCxn id="76" idx="6"/>
            <a:endCxn id="73" idx="2"/>
          </p:cNvCxnSpPr>
          <p:nvPr/>
        </p:nvCxnSpPr>
        <p:spPr>
          <a:xfrm>
            <a:off x="8605464" y="3774315"/>
            <a:ext cx="43991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0631DC2-FFF2-45F5-BA25-687E3784F779}"/>
              </a:ext>
            </a:extLst>
          </p:cNvPr>
          <p:cNvCxnSpPr>
            <a:cxnSpLocks/>
            <a:stCxn id="73" idx="6"/>
            <a:endCxn id="77" idx="2"/>
          </p:cNvCxnSpPr>
          <p:nvPr/>
        </p:nvCxnSpPr>
        <p:spPr>
          <a:xfrm flipV="1">
            <a:off x="9459380" y="3774314"/>
            <a:ext cx="439917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03254605-3BBE-FF1A-9731-046567571DF9}"/>
              </a:ext>
            </a:extLst>
          </p:cNvPr>
          <p:cNvCxnSpPr>
            <a:cxnSpLocks/>
            <a:stCxn id="77" idx="6"/>
            <a:endCxn id="74" idx="2"/>
          </p:cNvCxnSpPr>
          <p:nvPr/>
        </p:nvCxnSpPr>
        <p:spPr>
          <a:xfrm>
            <a:off x="10313296" y="3774314"/>
            <a:ext cx="439919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1820F6-8968-FD40-70FB-EA6114751362}"/>
              </a:ext>
            </a:extLst>
          </p:cNvPr>
          <p:cNvSpPr txBox="1"/>
          <p:nvPr/>
        </p:nvSpPr>
        <p:spPr>
          <a:xfrm>
            <a:off x="9590049" y="4229025"/>
            <a:ext cx="2605137" cy="738664"/>
          </a:xfrm>
          <a:prstGeom prst="rect">
            <a:avLst/>
          </a:prstGeom>
          <a:solidFill>
            <a:srgbClr val="C2DBE4"/>
          </a:solidFill>
        </p:spPr>
        <p:txBody>
          <a:bodyPr wrap="none" rtlCol="0">
            <a:spAutoFit/>
          </a:bodyPr>
          <a:lstStyle/>
          <a:p>
            <a:r>
              <a:rPr lang="en-FR" sz="1400" b="1">
                <a:solidFill>
                  <a:schemeClr val="accent1"/>
                </a:solidFill>
              </a:rPr>
              <a:t>Interuptions de service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FR" sz="1400">
                <a:solidFill>
                  <a:schemeClr val="accent1"/>
                </a:solidFill>
              </a:rPr>
              <a:t>De 1s a 30s sur VPS/Docker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FR" sz="1400">
                <a:solidFill>
                  <a:schemeClr val="accent1"/>
                </a:solidFill>
              </a:rPr>
              <a:t>Sans sur K8s/Kubernetes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E0525F4-979E-7F0F-1D7B-AD35283BDBAE}"/>
              </a:ext>
            </a:extLst>
          </p:cNvPr>
          <p:cNvSpPr/>
          <p:nvPr/>
        </p:nvSpPr>
        <p:spPr>
          <a:xfrm>
            <a:off x="0" y="5258258"/>
            <a:ext cx="12192000" cy="168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4" name="Rectangle 83" hidden="1">
            <a:extLst>
              <a:ext uri="{FF2B5EF4-FFF2-40B4-BE49-F238E27FC236}">
                <a16:creationId xmlns:a16="http://schemas.microsoft.com/office/drawing/2014/main" id="{DF4441F9-6104-FDBE-6505-3458769E1274}"/>
              </a:ext>
            </a:extLst>
          </p:cNvPr>
          <p:cNvSpPr/>
          <p:nvPr/>
        </p:nvSpPr>
        <p:spPr>
          <a:xfrm>
            <a:off x="0" y="6289864"/>
            <a:ext cx="12192000" cy="690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6" name="Rectangle 85" hidden="1">
            <a:extLst>
              <a:ext uri="{FF2B5EF4-FFF2-40B4-BE49-F238E27FC236}">
                <a16:creationId xmlns:a16="http://schemas.microsoft.com/office/drawing/2014/main" id="{5C3E7C26-7E5D-91A4-6EC9-B8EA6B1C0AAE}"/>
              </a:ext>
            </a:extLst>
          </p:cNvPr>
          <p:cNvSpPr/>
          <p:nvPr/>
        </p:nvSpPr>
        <p:spPr>
          <a:xfrm>
            <a:off x="0" y="6627747"/>
            <a:ext cx="12192000" cy="304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5" name="Oval 114">
            <a:hlinkClick r:id="rId15" action="ppaction://hlinksldjump"/>
            <a:extLst>
              <a:ext uri="{FF2B5EF4-FFF2-40B4-BE49-F238E27FC236}">
                <a16:creationId xmlns:a16="http://schemas.microsoft.com/office/drawing/2014/main" id="{2E86AE14-8B07-C8D4-115E-3F8B2E4F70CF}"/>
              </a:ext>
            </a:extLst>
          </p:cNvPr>
          <p:cNvSpPr/>
          <p:nvPr/>
        </p:nvSpPr>
        <p:spPr>
          <a:xfrm>
            <a:off x="7308698" y="3226063"/>
            <a:ext cx="314085" cy="31408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6" name="Oval 115">
            <a:hlinkClick r:id="rId16" action="ppaction://hlinksldjump"/>
            <a:extLst>
              <a:ext uri="{FF2B5EF4-FFF2-40B4-BE49-F238E27FC236}">
                <a16:creationId xmlns:a16="http://schemas.microsoft.com/office/drawing/2014/main" id="{AFD53E63-FC6B-99BD-6BD2-7907EAB4C527}"/>
              </a:ext>
            </a:extLst>
          </p:cNvPr>
          <p:cNvSpPr/>
          <p:nvPr/>
        </p:nvSpPr>
        <p:spPr>
          <a:xfrm>
            <a:off x="7346757" y="3990651"/>
            <a:ext cx="314085" cy="31408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8" name="Oval 117">
            <a:hlinkClick r:id="rId17"/>
            <a:extLst>
              <a:ext uri="{FF2B5EF4-FFF2-40B4-BE49-F238E27FC236}">
                <a16:creationId xmlns:a16="http://schemas.microsoft.com/office/drawing/2014/main" id="{D5F146B8-750A-C8D7-2F62-A7F99AD34140}"/>
              </a:ext>
            </a:extLst>
          </p:cNvPr>
          <p:cNvSpPr/>
          <p:nvPr/>
        </p:nvSpPr>
        <p:spPr>
          <a:xfrm>
            <a:off x="4472791" y="2183608"/>
            <a:ext cx="314085" cy="31408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9" name="Oval 118">
            <a:hlinkClick r:id="rId18"/>
            <a:extLst>
              <a:ext uri="{FF2B5EF4-FFF2-40B4-BE49-F238E27FC236}">
                <a16:creationId xmlns:a16="http://schemas.microsoft.com/office/drawing/2014/main" id="{859A045D-77E9-ECEF-02CD-E66D0618623C}"/>
              </a:ext>
            </a:extLst>
          </p:cNvPr>
          <p:cNvSpPr/>
          <p:nvPr/>
        </p:nvSpPr>
        <p:spPr>
          <a:xfrm>
            <a:off x="4009427" y="5110498"/>
            <a:ext cx="314085" cy="31408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8BFD44-DB43-8C97-1832-BDFA6B229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69482"/>
              </p:ext>
            </p:extLst>
          </p:nvPr>
        </p:nvGraphicFramePr>
        <p:xfrm>
          <a:off x="10993" y="5408903"/>
          <a:ext cx="12181007" cy="1462943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2160707">
                  <a:extLst>
                    <a:ext uri="{9D8B030D-6E8A-4147-A177-3AD203B41FA5}">
                      <a16:colId xmlns:a16="http://schemas.microsoft.com/office/drawing/2014/main" val="1810195871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1867512884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3681629428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3979905495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10846215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1574367447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1130541858"/>
                    </a:ext>
                  </a:extLst>
                </a:gridCol>
              </a:tblGrid>
              <a:tr h="513132"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noProof="0">
                          <a:solidFill>
                            <a:schemeClr val="bg1"/>
                          </a:solidFill>
                          <a:effectLst/>
                        </a:rPr>
                        <a:t>TRIGGER</a:t>
                      </a:r>
                    </a:p>
                  </a:txBody>
                  <a:tcPr marL="108012" marR="108012" marT="138872" marB="108012" anchor="ctr">
                    <a:lnL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cap="all" noProof="0">
                          <a:solidFill>
                            <a:schemeClr val="bg1"/>
                          </a:solidFill>
                          <a:effectLst/>
                        </a:rPr>
                        <a:t>TESTS CI</a:t>
                      </a:r>
                    </a:p>
                  </a:txBody>
                  <a:tcPr marL="108012" marR="108012" marT="72000" marB="72000" anchor="ctr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cap="all" noProof="0">
                          <a:solidFill>
                            <a:schemeClr val="bg1"/>
                          </a:solidFill>
                          <a:effectLst/>
                        </a:rPr>
                        <a:t>STEPS CD</a:t>
                      </a:r>
                    </a:p>
                  </a:txBody>
                  <a:tcPr marL="108012" marR="108012" marT="138872" marB="108012" anchor="ctr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cap="all" noProof="0">
                          <a:solidFill>
                            <a:schemeClr val="bg1"/>
                          </a:solidFill>
                          <a:effectLst/>
                        </a:rPr>
                        <a:t>TESTS Fonctionnels</a:t>
                      </a:r>
                    </a:p>
                  </a:txBody>
                  <a:tcPr marL="108012" marR="108012" marT="138872" marB="108012" anchor="ctr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cap="all" noProof="0">
                          <a:solidFill>
                            <a:schemeClr val="bg1"/>
                          </a:solidFill>
                          <a:effectLst/>
                        </a:rPr>
                        <a:t>stops</a:t>
                      </a:r>
                    </a:p>
                  </a:txBody>
                  <a:tcPr marL="108012" marR="108012" marT="138872" marB="108012" anchor="ctr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cap="all" noProof="0">
                          <a:solidFill>
                            <a:schemeClr val="bg1"/>
                          </a:solidFill>
                          <a:effectLst/>
                        </a:rPr>
                        <a:t>rollback</a:t>
                      </a:r>
                    </a:p>
                  </a:txBody>
                  <a:tcPr marL="108012" marR="108012" marT="138872" marB="108012" anchor="ctr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b="1" cap="all" noProof="0">
                          <a:solidFill>
                            <a:schemeClr val="bg1"/>
                          </a:solidFill>
                          <a:effectLst/>
                        </a:rPr>
                        <a:t>gate manuelle</a:t>
                      </a:r>
                    </a:p>
                  </a:txBody>
                  <a:tcPr marL="108012" marR="108012" marT="138872" marB="108012" anchor="ctr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456927"/>
                  </a:ext>
                </a:extLst>
              </a:tr>
              <a:tr h="283433">
                <a:tc>
                  <a:txBody>
                    <a:bodyPr/>
                    <a:lstStyle/>
                    <a:p>
                      <a:pPr fontAlgn="t"/>
                      <a:r>
                        <a:rPr lang="fr-FR" sz="1200" b="1" cap="all" noProof="0">
                          <a:solidFill>
                            <a:schemeClr val="accent1"/>
                          </a:solidFill>
                          <a:effectLst/>
                        </a:rPr>
                        <a:t>❶ </a:t>
                      </a:r>
                      <a:r>
                        <a:rPr lang="fr-FR" sz="1200" b="1" cap="all" noProof="0" err="1">
                          <a:solidFill>
                            <a:schemeClr val="accent1"/>
                          </a:solidFill>
                          <a:effectLst/>
                        </a:rPr>
                        <a:t>NouvELLES</a:t>
                      </a:r>
                      <a:r>
                        <a:rPr lang="fr-FR" sz="1200" b="1" cap="all" noProof="0">
                          <a:solidFill>
                            <a:schemeClr val="accent1"/>
                          </a:solidFill>
                          <a:effectLst/>
                        </a:rPr>
                        <a:t> Données</a:t>
                      </a:r>
                      <a:endParaRPr lang="fr-FR" sz="1200" noProof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08012" marR="108012" marT="36000" marB="36000">
                    <a:lnL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fr-FR" sz="1200" b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-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8x2*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4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507354"/>
                  </a:ext>
                </a:extLst>
              </a:tr>
              <a:tr h="283433">
                <a:tc>
                  <a:txBody>
                    <a:bodyPr/>
                    <a:lstStyle/>
                    <a:p>
                      <a:pPr fontAlgn="t"/>
                      <a:r>
                        <a:rPr lang="fr-FR" sz="1200" b="1" cap="all" noProof="0">
                          <a:solidFill>
                            <a:schemeClr val="accent1"/>
                          </a:solidFill>
                          <a:effectLst/>
                        </a:rPr>
                        <a:t>❷ Nouveau code</a:t>
                      </a:r>
                      <a:endParaRPr lang="fr-FR" sz="1200" noProof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08012" marR="108012" marT="36000" marB="36000">
                    <a:lnL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82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4 </a:t>
                      </a:r>
                      <a:r>
                        <a:rPr lang="fr-FR" sz="1200" b="1" noProof="0" dirty="0">
                          <a:solidFill>
                            <a:schemeClr val="accent1"/>
                          </a:solidFill>
                          <a:effectLst/>
                        </a:rPr>
                        <a:t>→ </a:t>
                      </a:r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11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8x2*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5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574046"/>
                  </a:ext>
                </a:extLst>
              </a:tr>
              <a:tr h="283433">
                <a:tc>
                  <a:txBody>
                    <a:bodyPr/>
                    <a:lstStyle/>
                    <a:p>
                      <a:pPr fontAlgn="t"/>
                      <a:r>
                        <a:rPr lang="fr-FR" sz="1200" b="1" cap="all" noProof="0" dirty="0">
                          <a:solidFill>
                            <a:schemeClr val="accent1"/>
                          </a:solidFill>
                          <a:effectLst/>
                        </a:rPr>
                        <a:t>❸ NOUVEAU modèle</a:t>
                      </a:r>
                      <a:endParaRPr lang="fr-FR" sz="1200" noProof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08012" marR="108012" marT="36000" marB="36000">
                    <a:lnL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82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4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8x2*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200" b="0" noProof="0" dirty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</a:p>
                  </a:txBody>
                  <a:tcPr marL="108012" marR="108012" marT="36000" marB="36000">
                    <a:lnT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641600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19"/>
            <a:extLst>
              <a:ext uri="{FF2B5EF4-FFF2-40B4-BE49-F238E27FC236}">
                <a16:creationId xmlns:a16="http://schemas.microsoft.com/office/drawing/2014/main" id="{2209EE19-1EA7-064D-3253-AB06D54C352C}"/>
              </a:ext>
            </a:extLst>
          </p:cNvPr>
          <p:cNvSpPr/>
          <p:nvPr/>
        </p:nvSpPr>
        <p:spPr>
          <a:xfrm>
            <a:off x="10992" y="6006608"/>
            <a:ext cx="12181007" cy="84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35450-740F-3403-7005-0DC89F2B81DC}"/>
              </a:ext>
            </a:extLst>
          </p:cNvPr>
          <p:cNvSpPr txBox="1"/>
          <p:nvPr/>
        </p:nvSpPr>
        <p:spPr>
          <a:xfrm>
            <a:off x="9148387" y="5255306"/>
            <a:ext cx="315342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* 8 tests (5 API + 3 Cockpit public), en interne puis en externe, sur le VPS et sur Kubernetes</a:t>
            </a:r>
          </a:p>
        </p:txBody>
      </p:sp>
    </p:spTree>
    <p:extLst>
      <p:ext uri="{BB962C8B-B14F-4D97-AF65-F5344CB8AC3E}">
        <p14:creationId xmlns:p14="http://schemas.microsoft.com/office/powerpoint/2010/main" val="357704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81481E-6 L 2.91667E-6 -0.103113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4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4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51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53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55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57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59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61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-8.33333E-7 -0.103113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6 L 2.91667E-6 -0.103113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67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1.66667E-6 -0.10301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62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71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7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7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7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7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8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83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85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8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8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91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9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9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97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199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01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03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05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07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09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11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13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3.7037E-6 L 1.45833E-6 -0.103113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17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19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2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23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25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27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29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31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42" presetClass="pat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2"/>
                                    </p:cond>
                                  </p:end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33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42" presetClass="pat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4"/>
                                    </p:cond>
                                  </p:end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3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6" presetID="42" presetClass="pat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6"/>
                                    </p:cond>
                                  </p:end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37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42" presetClass="pat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8"/>
                                    </p:cond>
                                  </p:endCondLst>
                                  <p:childTnLst>
                                    <p:animMotion origin="layout" path="M 0 0 L 0 -0.103113 E" pathEditMode="relative" ptsTypes="">
                                      <p:cBhvr>
                                        <p:cTn id="239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000"/>
                            </p:stCondLst>
                            <p:childTnLst>
                              <p:par>
                                <p:cTn id="2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5" grpId="0"/>
      <p:bldP spid="85" grpId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8" grpId="0"/>
      <p:bldP spid="98" grpId="1"/>
      <p:bldP spid="100" grpId="0"/>
      <p:bldP spid="100" grpId="1"/>
      <p:bldP spid="102" grpId="0"/>
      <p:bldP spid="102" grpId="1"/>
      <p:bldP spid="103" grpId="0"/>
      <p:bldP spid="103" grpId="1"/>
      <p:bldP spid="104" grpId="0"/>
      <p:bldP spid="104" grpId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6" grpId="0" animBg="1"/>
      <p:bldP spid="76" grpId="1" animBg="1"/>
      <p:bldP spid="77" grpId="0" animBg="1"/>
      <p:bldP spid="77" grpId="1" animBg="1"/>
      <p:bldP spid="6" grpId="0" animBg="1"/>
      <p:bldP spid="7" grpId="0" animBg="1"/>
      <p:bldP spid="84" grpId="0" animBg="1"/>
      <p:bldP spid="86" grpId="0" animBg="1"/>
      <p:bldP spid="115" grpId="0"/>
      <p:bldP spid="116" grpId="0"/>
      <p:bldP spid="118" grpId="0"/>
      <p:bldP spid="119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7171-7963-82E0-270E-02B916D30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85">
            <a:hlinkClick r:id="rId3"/>
            <a:extLst>
              <a:ext uri="{FF2B5EF4-FFF2-40B4-BE49-F238E27FC236}">
                <a16:creationId xmlns:a16="http://schemas.microsoft.com/office/drawing/2014/main" id="{0E9A9565-1B78-A030-6D2C-E1AF1E484F9E}"/>
              </a:ext>
            </a:extLst>
          </p:cNvPr>
          <p:cNvSpPr/>
          <p:nvPr/>
        </p:nvSpPr>
        <p:spPr>
          <a:xfrm>
            <a:off x="3373403" y="2298315"/>
            <a:ext cx="8698584" cy="4511817"/>
          </a:xfrm>
          <a:prstGeom prst="roundRect">
            <a:avLst>
              <a:gd name="adj" fmla="val 4509"/>
            </a:avLst>
          </a:prstGeom>
          <a:solidFill>
            <a:srgbClr val="C2DBE4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108000" rtlCol="0" anchor="t"/>
          <a:lstStyle/>
          <a:p>
            <a:pPr algn="r"/>
            <a:r>
              <a:rPr lang="en-FR" sz="1400" b="1" dirty="0">
                <a:solidFill>
                  <a:schemeClr val="accent1"/>
                </a:solidFill>
              </a:rPr>
              <a:t>CLOUD SCALEWAY</a:t>
            </a:r>
          </a:p>
        </p:txBody>
      </p:sp>
      <p:sp>
        <p:nvSpPr>
          <p:cNvPr id="36" name="Rounded Rectangle 35">
            <a:hlinkClick r:id="rId4"/>
            <a:extLst>
              <a:ext uri="{FF2B5EF4-FFF2-40B4-BE49-F238E27FC236}">
                <a16:creationId xmlns:a16="http://schemas.microsoft.com/office/drawing/2014/main" id="{9BE2F344-403E-0F1B-C2B2-35B3B9AC70EA}"/>
              </a:ext>
            </a:extLst>
          </p:cNvPr>
          <p:cNvSpPr/>
          <p:nvPr/>
        </p:nvSpPr>
        <p:spPr>
          <a:xfrm>
            <a:off x="1606378" y="1324078"/>
            <a:ext cx="4226011" cy="878814"/>
          </a:xfrm>
          <a:prstGeom prst="roundRect">
            <a:avLst>
              <a:gd name="adj" fmla="val 11460"/>
            </a:avLst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 algn="ctr"/>
            <a:r>
              <a:rPr lang="en-FR" sz="1200" b="1" dirty="0">
                <a:solidFill>
                  <a:schemeClr val="bg1"/>
                </a:solidFill>
              </a:rPr>
              <a:t>GITHUB</a:t>
            </a:r>
            <a:br>
              <a:rPr lang="en-FR" sz="1200" b="1" dirty="0">
                <a:solidFill>
                  <a:schemeClr val="bg1"/>
                </a:solidFill>
              </a:rPr>
            </a:br>
            <a:r>
              <a:rPr lang="en-FR" sz="600" dirty="0">
                <a:solidFill>
                  <a:schemeClr val="bg1"/>
                </a:solidFill>
              </a:rPr>
              <a:t>(Github Action &amp; GHCR) 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48F181A8-F2E0-8E2C-531A-C7868BB5AD05}"/>
              </a:ext>
            </a:extLst>
          </p:cNvPr>
          <p:cNvCxnSpPr>
            <a:cxnSpLocks/>
          </p:cNvCxnSpPr>
          <p:nvPr/>
        </p:nvCxnSpPr>
        <p:spPr>
          <a:xfrm rot="10800000">
            <a:off x="2440375" y="4646346"/>
            <a:ext cx="1112212" cy="0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8CBEBDD-1624-0856-FBDB-538574C570DD}"/>
              </a:ext>
            </a:extLst>
          </p:cNvPr>
          <p:cNvSpPr/>
          <p:nvPr/>
        </p:nvSpPr>
        <p:spPr>
          <a:xfrm>
            <a:off x="107574" y="2744983"/>
            <a:ext cx="2332800" cy="4001873"/>
          </a:xfrm>
          <a:prstGeom prst="roundRect">
            <a:avLst>
              <a:gd name="adj" fmla="val 901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bg1"/>
                </a:solidFill>
              </a:rPr>
              <a:t>DEV LOCAL</a:t>
            </a:r>
          </a:p>
          <a:p>
            <a:r>
              <a:rPr lang="fr-FR" sz="800" i="1" noProof="0" dirty="0">
                <a:solidFill>
                  <a:schemeClr val="bg1"/>
                </a:solidFill>
              </a:rPr>
              <a:t>PC DS &amp; MLOps Engineer </a:t>
            </a:r>
          </a:p>
          <a:p>
            <a:endParaRPr lang="fr-FR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77FD2E-1B3C-92E7-7CE7-F8A81EF99FFE}"/>
              </a:ext>
            </a:extLst>
          </p:cNvPr>
          <p:cNvSpPr/>
          <p:nvPr/>
        </p:nvSpPr>
        <p:spPr>
          <a:xfrm>
            <a:off x="221952" y="4577265"/>
            <a:ext cx="2118721" cy="98320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 err="1">
                <a:solidFill>
                  <a:schemeClr val="accent1"/>
                </a:solidFill>
              </a:rPr>
              <a:t>Tracking</a:t>
            </a:r>
            <a:r>
              <a:rPr lang="fr-FR" sz="1200" b="1" noProof="0" dirty="0">
                <a:solidFill>
                  <a:schemeClr val="accent1"/>
                </a:solidFill>
              </a:rPr>
              <a:t> &amp; Versionnage</a:t>
            </a:r>
            <a:endParaRPr lang="fr-FR" sz="800" noProof="0" dirty="0">
              <a:solidFill>
                <a:schemeClr val="accent1"/>
              </a:solidFill>
            </a:endParaRPr>
          </a:p>
          <a:p>
            <a:r>
              <a:rPr lang="fr-FR" sz="800" noProof="0" dirty="0">
                <a:solidFill>
                  <a:schemeClr val="accent1"/>
                </a:solidFill>
              </a:rPr>
              <a:t>Git · DVC · </a:t>
            </a:r>
            <a:r>
              <a:rPr lang="fr-FR" sz="800" noProof="0" dirty="0" err="1">
                <a:solidFill>
                  <a:schemeClr val="accent1"/>
                </a:solidFill>
              </a:rPr>
              <a:t>MLflow</a:t>
            </a:r>
            <a:endParaRPr lang="fr-FR" sz="800" noProof="0" dirty="0">
              <a:solidFill>
                <a:schemeClr val="accent1"/>
              </a:solidFill>
            </a:endParaRPr>
          </a:p>
          <a:p>
            <a:r>
              <a:rPr lang="fr-FR" sz="800" i="1" noProof="0" dirty="0" err="1">
                <a:solidFill>
                  <a:schemeClr val="accent1"/>
                </a:solidFill>
              </a:rPr>
              <a:t>Tracking</a:t>
            </a:r>
            <a:r>
              <a:rPr lang="fr-FR" sz="800" i="1" noProof="0" dirty="0">
                <a:solidFill>
                  <a:schemeClr val="accent1"/>
                </a:solidFill>
              </a:rPr>
              <a:t> et versionnage du Code, des données et des modèles</a:t>
            </a:r>
            <a:endParaRPr lang="fr-FR" sz="800" i="1" dirty="0">
              <a:solidFill>
                <a:schemeClr val="accent1"/>
              </a:solidFill>
            </a:endParaRPr>
          </a:p>
          <a:p>
            <a:endParaRPr lang="fr-FR" sz="800" i="1" noProof="0" dirty="0">
              <a:solidFill>
                <a:schemeClr val="accent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5F5198-E0A8-4AEF-5F5F-43AE95CED4D5}"/>
              </a:ext>
            </a:extLst>
          </p:cNvPr>
          <p:cNvSpPr/>
          <p:nvPr/>
        </p:nvSpPr>
        <p:spPr>
          <a:xfrm>
            <a:off x="202939" y="3486089"/>
            <a:ext cx="2118721" cy="9832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dirty="0">
                <a:solidFill>
                  <a:schemeClr val="accent1"/>
                </a:solidFill>
              </a:rPr>
              <a:t>Admin à distance</a:t>
            </a:r>
          </a:p>
          <a:p>
            <a:r>
              <a:rPr lang="fr-FR" sz="800" dirty="0" err="1">
                <a:solidFill>
                  <a:schemeClr val="accent1"/>
                </a:solidFill>
              </a:rPr>
              <a:t>scw</a:t>
            </a:r>
            <a:r>
              <a:rPr lang="fr-FR" sz="800" dirty="0">
                <a:solidFill>
                  <a:schemeClr val="accent1"/>
                </a:solidFill>
              </a:rPr>
              <a:t> · </a:t>
            </a:r>
            <a:r>
              <a:rPr lang="fr-FR" sz="800" dirty="0" err="1">
                <a:solidFill>
                  <a:schemeClr val="accent1"/>
                </a:solidFill>
              </a:rPr>
              <a:t>kubectl</a:t>
            </a:r>
            <a:endParaRPr lang="fr-FR" sz="800" dirty="0">
              <a:solidFill>
                <a:schemeClr val="accent1"/>
              </a:solidFill>
            </a:endParaRPr>
          </a:p>
          <a:p>
            <a:r>
              <a:rPr lang="fr-FR" sz="800" dirty="0">
                <a:solidFill>
                  <a:schemeClr val="accent1"/>
                </a:solidFill>
              </a:rPr>
              <a:t>Gestion Scaleway et </a:t>
            </a:r>
            <a:r>
              <a:rPr lang="fr-FR" sz="800" dirty="0" err="1">
                <a:solidFill>
                  <a:schemeClr val="accent1"/>
                </a:solidFill>
              </a:rPr>
              <a:t>Kapsule</a:t>
            </a:r>
            <a:endParaRPr lang="fr-FR" sz="800" dirty="0">
              <a:solidFill>
                <a:schemeClr val="accent1"/>
              </a:solidFill>
            </a:endParaRPr>
          </a:p>
          <a:p>
            <a:endParaRPr lang="fr-FR" sz="1200" b="1" dirty="0">
              <a:solidFill>
                <a:schemeClr val="accent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26BE522-8CB6-D369-7F5F-552F28E44156}"/>
              </a:ext>
            </a:extLst>
          </p:cNvPr>
          <p:cNvSpPr/>
          <p:nvPr/>
        </p:nvSpPr>
        <p:spPr>
          <a:xfrm>
            <a:off x="3552587" y="2744984"/>
            <a:ext cx="5012843" cy="2957031"/>
          </a:xfrm>
          <a:prstGeom prst="roundRect">
            <a:avLst>
              <a:gd name="adj" fmla="val 4619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bg1"/>
                </a:solidFill>
              </a:rPr>
              <a:t>VIRTUAL PRIVATE SERVER</a:t>
            </a:r>
            <a:endParaRPr lang="fr-FR" sz="800" i="1" noProof="0" dirty="0">
              <a:solidFill>
                <a:schemeClr val="bg1"/>
              </a:solidFill>
            </a:endParaRPr>
          </a:p>
          <a:p>
            <a:r>
              <a:rPr lang="fr-FR" sz="800" i="1" noProof="0" dirty="0">
                <a:solidFill>
                  <a:schemeClr val="bg1"/>
                </a:solidFill>
              </a:rPr>
              <a:t>Environnement de production Docker, 16 containers au total</a:t>
            </a:r>
          </a:p>
          <a:p>
            <a:endParaRPr lang="fr-FR" sz="1200" b="1" noProof="0" dirty="0">
              <a:solidFill>
                <a:schemeClr val="bg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EF371B-96FC-51B2-FE2F-4E99C4660553}"/>
              </a:ext>
            </a:extLst>
          </p:cNvPr>
          <p:cNvSpPr/>
          <p:nvPr/>
        </p:nvSpPr>
        <p:spPr>
          <a:xfrm>
            <a:off x="3670726" y="3495455"/>
            <a:ext cx="1548000" cy="9864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Entrée du trafic</a:t>
            </a:r>
            <a:endParaRPr lang="fr-FR" sz="1200" noProof="0" dirty="0">
              <a:solidFill>
                <a:schemeClr val="accent1"/>
              </a:solidFill>
            </a:endParaRPr>
          </a:p>
          <a:p>
            <a:r>
              <a:rPr lang="fr-FR" sz="800" noProof="0" dirty="0">
                <a:solidFill>
                  <a:schemeClr val="accent1"/>
                </a:solidFill>
              </a:rPr>
              <a:t>Caddy · Nginx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Chiffre · Route · Limite le débit</a:t>
            </a:r>
          </a:p>
          <a:p>
            <a:endParaRPr lang="fr-FR" sz="1200" b="1" noProof="0" dirty="0">
              <a:solidFill>
                <a:schemeClr val="accent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257AE2B-08C1-324E-5C02-63A7F5DE63E2}"/>
              </a:ext>
            </a:extLst>
          </p:cNvPr>
          <p:cNvSpPr/>
          <p:nvPr/>
        </p:nvSpPr>
        <p:spPr>
          <a:xfrm>
            <a:off x="6119520" y="4579525"/>
            <a:ext cx="2347200" cy="9864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Plateforme ML</a:t>
            </a:r>
          </a:p>
          <a:p>
            <a:r>
              <a:rPr lang="fr-FR" sz="800" noProof="0" dirty="0" err="1">
                <a:solidFill>
                  <a:schemeClr val="accent1"/>
                </a:solidFill>
              </a:rPr>
              <a:t>MLFlow</a:t>
            </a:r>
            <a:r>
              <a:rPr lang="fr-FR" sz="800" noProof="0" dirty="0">
                <a:solidFill>
                  <a:schemeClr val="accent1"/>
                </a:solidFill>
              </a:rPr>
              <a:t> · PostgreSQL · MinIO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Entraîne, stocke - registre de modèles (versions + alias @Production)</a:t>
            </a:r>
          </a:p>
          <a:p>
            <a:r>
              <a:rPr lang="en-FR" sz="800" dirty="0">
                <a:solidFill>
                  <a:schemeClr val="accent1"/>
                </a:solidFill>
              </a:rPr>
              <a:t>PostgreSQL = registre MLflow, préd. VPS/K8s</a:t>
            </a:r>
          </a:p>
          <a:p>
            <a:r>
              <a:rPr lang="en-FR" sz="800" dirty="0">
                <a:solidFill>
                  <a:schemeClr val="accent1"/>
                </a:solidFill>
              </a:rPr>
              <a:t>MinIO = fichiers des modèles</a:t>
            </a:r>
            <a:endParaRPr lang="fr-FR" sz="800" dirty="0">
              <a:solidFill>
                <a:schemeClr val="accent1"/>
              </a:solidFill>
            </a:endParaRPr>
          </a:p>
          <a:p>
            <a:endParaRPr lang="fr-FR" sz="1200" b="1" noProof="0" dirty="0">
              <a:solidFill>
                <a:schemeClr val="accent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F9B5404-60F5-38ED-A151-86DBAA6162E1}"/>
              </a:ext>
            </a:extLst>
          </p:cNvPr>
          <p:cNvSpPr/>
          <p:nvPr/>
        </p:nvSpPr>
        <p:spPr>
          <a:xfrm>
            <a:off x="3670725" y="4581779"/>
            <a:ext cx="2347200" cy="986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Orchestration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Prefect</a:t>
            </a:r>
          </a:p>
          <a:p>
            <a:r>
              <a:rPr lang="fr-FR" sz="800" dirty="0">
                <a:solidFill>
                  <a:schemeClr val="accent1"/>
                </a:solidFill>
              </a:rPr>
              <a:t>Orchestrateur centralisé avec 18 flows définis</a:t>
            </a:r>
            <a:endParaRPr lang="fr-FR" sz="800" noProof="0" dirty="0">
              <a:solidFill>
                <a:schemeClr val="accent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358E190-3184-7D22-D5C4-5BE8B48E93C9}"/>
              </a:ext>
            </a:extLst>
          </p:cNvPr>
          <p:cNvSpPr/>
          <p:nvPr/>
        </p:nvSpPr>
        <p:spPr>
          <a:xfrm>
            <a:off x="9677644" y="2744984"/>
            <a:ext cx="2335801" cy="4001872"/>
          </a:xfrm>
          <a:prstGeom prst="roundRect">
            <a:avLst>
              <a:gd name="adj" fmla="val 7486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bg1"/>
                </a:solidFill>
              </a:rPr>
              <a:t>SERVICES KUBERNETES</a:t>
            </a:r>
          </a:p>
          <a:p>
            <a:r>
              <a:rPr lang="fr-FR" sz="800" i="1" noProof="0" dirty="0">
                <a:solidFill>
                  <a:schemeClr val="bg1"/>
                </a:solidFill>
              </a:rPr>
              <a:t>Environnement  de production  Kubernetes</a:t>
            </a:r>
          </a:p>
          <a:p>
            <a:r>
              <a:rPr lang="en-FR" sz="800" i="1" dirty="0">
                <a:solidFill>
                  <a:schemeClr val="bg1"/>
                </a:solidFill>
              </a:rPr>
              <a:t>Sert sans dépendre du VPS (modèle et données copiés depuis S3)</a:t>
            </a:r>
            <a:endParaRPr lang="fr-FR" sz="800" i="1" dirty="0">
              <a:solidFill>
                <a:schemeClr val="bg1"/>
              </a:solidFill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F167BDB-AEE6-B544-9745-B6655D61D809}"/>
              </a:ext>
            </a:extLst>
          </p:cNvPr>
          <p:cNvSpPr/>
          <p:nvPr/>
        </p:nvSpPr>
        <p:spPr>
          <a:xfrm>
            <a:off x="9783628" y="5142451"/>
            <a:ext cx="2120400" cy="7558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Entrée du trafic</a:t>
            </a:r>
            <a:endParaRPr lang="fr-FR" sz="600" b="1" noProof="0" dirty="0">
              <a:solidFill>
                <a:schemeClr val="accent1"/>
              </a:solidFill>
            </a:endParaRPr>
          </a:p>
          <a:p>
            <a:r>
              <a:rPr lang="fr-FR" sz="800" dirty="0">
                <a:solidFill>
                  <a:schemeClr val="accent1"/>
                </a:solidFill>
              </a:rPr>
              <a:t>Caddy · Nginx</a:t>
            </a:r>
          </a:p>
          <a:p>
            <a:r>
              <a:rPr lang="fr-FR" sz="800" dirty="0">
                <a:solidFill>
                  <a:schemeClr val="accent1"/>
                </a:solidFill>
              </a:rPr>
              <a:t>Certificat partagé S3 renouvelé au démarrage du cluster</a:t>
            </a:r>
            <a:endParaRPr lang="fr-FR" sz="1200" b="1" noProof="0" dirty="0">
              <a:solidFill>
                <a:schemeClr val="accent1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C95DD59-4AB1-B1CC-E469-B99042482D93}"/>
              </a:ext>
            </a:extLst>
          </p:cNvPr>
          <p:cNvSpPr/>
          <p:nvPr/>
        </p:nvSpPr>
        <p:spPr>
          <a:xfrm>
            <a:off x="9783628" y="3486089"/>
            <a:ext cx="2120400" cy="7776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dirty="0">
                <a:solidFill>
                  <a:schemeClr val="accent1"/>
                </a:solidFill>
              </a:rPr>
              <a:t>Monitoring</a:t>
            </a:r>
          </a:p>
          <a:p>
            <a:r>
              <a:rPr lang="fr-FR" sz="800" dirty="0">
                <a:solidFill>
                  <a:schemeClr val="accent1"/>
                </a:solidFill>
              </a:rPr>
              <a:t>Prometheus · Promtail</a:t>
            </a:r>
          </a:p>
          <a:p>
            <a:r>
              <a:rPr lang="fr-FR" sz="800" dirty="0">
                <a:solidFill>
                  <a:schemeClr val="accent1"/>
                </a:solidFill>
              </a:rPr>
              <a:t>Métriques lues à distance par Grafana VPS · logs poussés vers Loki VPS</a:t>
            </a:r>
          </a:p>
          <a:p>
            <a:endParaRPr lang="fr-FR" sz="1200" b="1" dirty="0">
              <a:solidFill>
                <a:schemeClr val="accent1"/>
              </a:solidFill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A5173B1-D48A-2331-6E92-51ADA51A1D79}"/>
              </a:ext>
            </a:extLst>
          </p:cNvPr>
          <p:cNvSpPr/>
          <p:nvPr/>
        </p:nvSpPr>
        <p:spPr>
          <a:xfrm>
            <a:off x="9783628" y="4345946"/>
            <a:ext cx="2120400" cy="7340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Auto-</a:t>
            </a:r>
            <a:r>
              <a:rPr lang="fr-FR" sz="1200" b="1" noProof="0" dirty="0" err="1">
                <a:solidFill>
                  <a:schemeClr val="accent1"/>
                </a:solidFill>
              </a:rPr>
              <a:t>scaling</a:t>
            </a:r>
            <a:endParaRPr lang="fr-FR" sz="600" b="1" noProof="0" dirty="0">
              <a:solidFill>
                <a:schemeClr val="accent1"/>
              </a:solidFill>
            </a:endParaRPr>
          </a:p>
          <a:p>
            <a:r>
              <a:rPr lang="fr-FR" sz="800" noProof="0" dirty="0">
                <a:solidFill>
                  <a:schemeClr val="accent1"/>
                </a:solidFill>
              </a:rPr>
              <a:t>HPA : 2 → 4 </a:t>
            </a:r>
            <a:r>
              <a:rPr lang="fr-FR" sz="800" noProof="0" dirty="0" err="1">
                <a:solidFill>
                  <a:schemeClr val="accent1"/>
                </a:solidFill>
              </a:rPr>
              <a:t>pods</a:t>
            </a:r>
            <a:r>
              <a:rPr lang="fr-FR" sz="800" noProof="0" dirty="0">
                <a:solidFill>
                  <a:schemeClr val="accent1"/>
                </a:solidFill>
              </a:rPr>
              <a:t> (api)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S'adapte à la charge</a:t>
            </a:r>
          </a:p>
          <a:p>
            <a:endParaRPr lang="fr-FR" sz="1200" b="1" noProof="0" dirty="0">
              <a:solidFill>
                <a:schemeClr val="accent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3BC6EC-3CC3-F727-AA34-DE64DD103C5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4834529" y="5568179"/>
            <a:ext cx="0" cy="638067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40F2AFC-E273-8C16-CEBE-08B4BEF40965}"/>
              </a:ext>
            </a:extLst>
          </p:cNvPr>
          <p:cNvSpPr txBox="1"/>
          <p:nvPr/>
        </p:nvSpPr>
        <p:spPr>
          <a:xfrm>
            <a:off x="4677462" y="5806623"/>
            <a:ext cx="852868" cy="21544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DVC push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259E4EB6-7DA1-3A62-DE3A-91D20FB97EAC}"/>
              </a:ext>
            </a:extLst>
          </p:cNvPr>
          <p:cNvCxnSpPr>
            <a:cxnSpLocks/>
            <a:stCxn id="4" idx="0"/>
            <a:endCxn id="33" idx="1"/>
          </p:cNvCxnSpPr>
          <p:nvPr/>
        </p:nvCxnSpPr>
        <p:spPr>
          <a:xfrm rot="5400000" flipH="1" flipV="1">
            <a:off x="1103587" y="2058672"/>
            <a:ext cx="856699" cy="515925"/>
          </a:xfrm>
          <a:prstGeom prst="bentConnector2">
            <a:avLst/>
          </a:prstGeom>
          <a:ln>
            <a:gradFill>
              <a:gsLst>
                <a:gs pos="0">
                  <a:schemeClr val="accent1"/>
                </a:gs>
                <a:gs pos="81000">
                  <a:schemeClr val="bg1"/>
                </a:gs>
              </a:gsLst>
              <a:lin ang="5400000" scaled="1"/>
            </a:gra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FA16C54-3ED5-8CD8-1F3D-89FB3061B42C}"/>
              </a:ext>
            </a:extLst>
          </p:cNvPr>
          <p:cNvCxnSpPr>
            <a:cxnSpLocks/>
            <a:stCxn id="35" idx="3"/>
            <a:endCxn id="63" idx="2"/>
          </p:cNvCxnSpPr>
          <p:nvPr/>
        </p:nvCxnSpPr>
        <p:spPr>
          <a:xfrm flipV="1">
            <a:off x="5645035" y="1886957"/>
            <a:ext cx="810596" cy="1326"/>
          </a:xfrm>
          <a:prstGeom prst="bentConnector3">
            <a:avLst>
              <a:gd name="adj1" fmla="val 50000"/>
            </a:avLst>
          </a:prstGeom>
          <a:ln>
            <a:gradFill>
              <a:gsLst>
                <a:gs pos="0">
                  <a:schemeClr val="bg1"/>
                </a:gs>
                <a:gs pos="40000">
                  <a:schemeClr val="accent1"/>
                </a:gs>
              </a:gsLst>
              <a:lin ang="0" scaled="0"/>
            </a:gra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A067F6E-EBBE-0967-AA8C-94E0078E03E7}"/>
              </a:ext>
            </a:extLst>
          </p:cNvPr>
          <p:cNvCxnSpPr>
            <a:cxnSpLocks/>
          </p:cNvCxnSpPr>
          <p:nvPr/>
        </p:nvCxnSpPr>
        <p:spPr>
          <a:xfrm>
            <a:off x="7517687" y="5583517"/>
            <a:ext cx="0" cy="603002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DF1F396-9C7C-0863-3D9A-1463E408C8CD}"/>
              </a:ext>
            </a:extLst>
          </p:cNvPr>
          <p:cNvSpPr txBox="1"/>
          <p:nvPr/>
        </p:nvSpPr>
        <p:spPr>
          <a:xfrm>
            <a:off x="7390260" y="5734428"/>
            <a:ext cx="787498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Promotion modèle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4768193-0DD7-BF2B-C7B3-D1D6E639E2D9}"/>
              </a:ext>
            </a:extLst>
          </p:cNvPr>
          <p:cNvCxnSpPr>
            <a:cxnSpLocks/>
          </p:cNvCxnSpPr>
          <p:nvPr/>
        </p:nvCxnSpPr>
        <p:spPr>
          <a:xfrm>
            <a:off x="8565430" y="6638076"/>
            <a:ext cx="1219914" cy="6378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41249B-6A89-4543-6DED-239C111502E6}"/>
              </a:ext>
            </a:extLst>
          </p:cNvPr>
          <p:cNvSpPr txBox="1"/>
          <p:nvPr/>
        </p:nvSpPr>
        <p:spPr>
          <a:xfrm rot="16200000">
            <a:off x="894172" y="2191824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Push &amp;</a:t>
            </a:r>
            <a:br>
              <a:rPr lang="en-FR" sz="800" dirty="0">
                <a:solidFill>
                  <a:schemeClr val="accent1"/>
                </a:solidFill>
              </a:rPr>
            </a:br>
            <a:r>
              <a:rPr lang="en-FR" sz="800" dirty="0">
                <a:solidFill>
                  <a:schemeClr val="accent1"/>
                </a:solidFill>
              </a:rPr>
              <a:t> ouverture PR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A27930-9626-BA3D-87F5-ACD1A92896C3}"/>
              </a:ext>
            </a:extLst>
          </p:cNvPr>
          <p:cNvSpPr/>
          <p:nvPr/>
        </p:nvSpPr>
        <p:spPr>
          <a:xfrm>
            <a:off x="0" y="-10846"/>
            <a:ext cx="12192000" cy="1271752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4563BC-4675-01D7-7764-6EEA71B89350}"/>
              </a:ext>
            </a:extLst>
          </p:cNvPr>
          <p:cNvSpPr txBox="1"/>
          <p:nvPr/>
        </p:nvSpPr>
        <p:spPr>
          <a:xfrm>
            <a:off x="0" y="440357"/>
            <a:ext cx="9590049" cy="646331"/>
          </a:xfrm>
          <a:prstGeom prst="rect">
            <a:avLst/>
          </a:prstGeom>
          <a:noFill/>
        </p:spPr>
        <p:txBody>
          <a:bodyPr wrap="square" lIns="288000">
            <a:spAutoFit/>
          </a:bodyPr>
          <a:lstStyle/>
          <a:p>
            <a:r>
              <a:rPr lang="en-FR" sz="2400" b="1" dirty="0">
                <a:solidFill>
                  <a:srgbClr val="156082"/>
                </a:solidFill>
              </a:rPr>
              <a:t>Architecture de la solution</a:t>
            </a:r>
          </a:p>
          <a:p>
            <a:r>
              <a:rPr lang="en-FR" sz="1200" dirty="0">
                <a:solidFill>
                  <a:srgbClr val="156082"/>
                </a:solidFill>
              </a:rPr>
              <a:t>Fondamentaux de la solution #3</a:t>
            </a:r>
            <a:endParaRPr lang="en-FR" sz="1200" b="1" dirty="0">
              <a:solidFill>
                <a:srgbClr val="156082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A951C92-CBD2-D7B1-CFC6-5F31D25428DD}"/>
              </a:ext>
            </a:extLst>
          </p:cNvPr>
          <p:cNvSpPr/>
          <p:nvPr/>
        </p:nvSpPr>
        <p:spPr>
          <a:xfrm>
            <a:off x="1789899" y="1646830"/>
            <a:ext cx="1423104" cy="48290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CI</a:t>
            </a:r>
            <a:endParaRPr lang="fr-FR" sz="600" b="1" noProof="0" dirty="0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0BF7030-D087-2C73-57F5-3CDB01AE5112}"/>
              </a:ext>
            </a:extLst>
          </p:cNvPr>
          <p:cNvSpPr/>
          <p:nvPr/>
        </p:nvSpPr>
        <p:spPr>
          <a:xfrm>
            <a:off x="4221931" y="1646830"/>
            <a:ext cx="1423104" cy="482906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CD</a:t>
            </a:r>
            <a:endParaRPr lang="fr-FR" sz="800" dirty="0">
              <a:solidFill>
                <a:schemeClr val="bg1"/>
              </a:solidFill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514F9CA6-E15D-377D-C5AB-5178964F747C}"/>
              </a:ext>
            </a:extLst>
          </p:cNvPr>
          <p:cNvCxnSpPr>
            <a:cxnSpLocks/>
            <a:stCxn id="33" idx="3"/>
            <a:endCxn id="32" idx="2"/>
          </p:cNvCxnSpPr>
          <p:nvPr/>
        </p:nvCxnSpPr>
        <p:spPr>
          <a:xfrm flipV="1">
            <a:off x="3213003" y="1886957"/>
            <a:ext cx="396679" cy="132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C831D44-92C9-6921-2DA0-70A2C698DC26}"/>
              </a:ext>
            </a:extLst>
          </p:cNvPr>
          <p:cNvSpPr txBox="1"/>
          <p:nvPr/>
        </p:nvSpPr>
        <p:spPr>
          <a:xfrm>
            <a:off x="3206982" y="1987984"/>
            <a:ext cx="102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Merge sur Main</a:t>
            </a:r>
          </a:p>
        </p:txBody>
      </p:sp>
      <p:sp>
        <p:nvSpPr>
          <p:cNvPr id="54" name="TextBox 53">
            <a:hlinkClick r:id="rId5"/>
            <a:extLst>
              <a:ext uri="{FF2B5EF4-FFF2-40B4-BE49-F238E27FC236}">
                <a16:creationId xmlns:a16="http://schemas.microsoft.com/office/drawing/2014/main" id="{E192452A-F00A-4C98-0064-459D9A131F8D}"/>
              </a:ext>
            </a:extLst>
          </p:cNvPr>
          <p:cNvSpPr txBox="1"/>
          <p:nvPr/>
        </p:nvSpPr>
        <p:spPr>
          <a:xfrm>
            <a:off x="6359613" y="1555715"/>
            <a:ext cx="416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chemeClr val="accent1"/>
                </a:solidFill>
              </a:rPr>
              <a:t>GO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7FEC13-C604-E099-1AFC-26E88C8E21DD}"/>
              </a:ext>
            </a:extLst>
          </p:cNvPr>
          <p:cNvSpPr/>
          <p:nvPr/>
        </p:nvSpPr>
        <p:spPr>
          <a:xfrm>
            <a:off x="6918720" y="3486707"/>
            <a:ext cx="1548000" cy="9864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Monitoring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Prometheus · Grafana · Loki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Monitoring &amp; logs centralisés</a:t>
            </a:r>
          </a:p>
          <a:p>
            <a:r>
              <a:rPr lang="fr-FR" sz="800" noProof="0" dirty="0">
                <a:solidFill>
                  <a:schemeClr val="accent1"/>
                </a:solidFill>
              </a:rPr>
              <a:t>K8s lu à distance.</a:t>
            </a:r>
          </a:p>
          <a:p>
            <a:endParaRPr lang="fr-FR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BC1ED7-CABA-13C8-8DA8-94C05D0DFD8F}"/>
              </a:ext>
            </a:extLst>
          </p:cNvPr>
          <p:cNvSpPr/>
          <p:nvPr/>
        </p:nvSpPr>
        <p:spPr>
          <a:xfrm>
            <a:off x="5294723" y="3491823"/>
            <a:ext cx="1548000" cy="9864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Interface</a:t>
            </a:r>
            <a:endParaRPr lang="fr-FR" sz="1200" noProof="0" dirty="0">
              <a:solidFill>
                <a:schemeClr val="accent1"/>
              </a:solidFill>
            </a:endParaRPr>
          </a:p>
          <a:p>
            <a:r>
              <a:rPr lang="fr-FR" sz="800" noProof="0" dirty="0">
                <a:solidFill>
                  <a:schemeClr val="accent1"/>
                </a:solidFill>
              </a:rPr>
              <a:t>Gradio admin &amp;  public · FastAPI</a:t>
            </a:r>
          </a:p>
          <a:p>
            <a:endParaRPr lang="fr-FR" sz="1200" noProof="0" dirty="0">
              <a:solidFill>
                <a:schemeClr val="accent1"/>
              </a:solidFill>
            </a:endParaRPr>
          </a:p>
          <a:p>
            <a:endParaRPr lang="fr-FR" sz="1200" b="1" noProof="0" dirty="0">
              <a:solidFill>
                <a:schemeClr val="accent1"/>
              </a:solidFill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ADFC45EA-0CB7-5794-896F-68FD938F263C}"/>
              </a:ext>
            </a:extLst>
          </p:cNvPr>
          <p:cNvCxnSpPr>
            <a:cxnSpLocks/>
          </p:cNvCxnSpPr>
          <p:nvPr/>
        </p:nvCxnSpPr>
        <p:spPr>
          <a:xfrm rot="10800000">
            <a:off x="8454560" y="3885771"/>
            <a:ext cx="1290966" cy="12700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BB7CBF-E10F-0B50-5FE4-90FCA75333EC}"/>
              </a:ext>
            </a:extLst>
          </p:cNvPr>
          <p:cNvSpPr txBox="1"/>
          <p:nvPr/>
        </p:nvSpPr>
        <p:spPr>
          <a:xfrm>
            <a:off x="9045919" y="5319493"/>
            <a:ext cx="699607" cy="21544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Certificat TLS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DF7AC85-97E0-63CD-712E-E6AB8664BC96}"/>
              </a:ext>
            </a:extLst>
          </p:cNvPr>
          <p:cNvSpPr/>
          <p:nvPr/>
        </p:nvSpPr>
        <p:spPr>
          <a:xfrm>
            <a:off x="9783628" y="5960025"/>
            <a:ext cx="2120400" cy="7558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accent1"/>
                </a:solidFill>
              </a:rPr>
              <a:t>Interface</a:t>
            </a:r>
            <a:endParaRPr lang="fr-FR" sz="600" b="1" noProof="0" dirty="0">
              <a:solidFill>
                <a:schemeClr val="accent1"/>
              </a:solidFill>
            </a:endParaRPr>
          </a:p>
          <a:p>
            <a:r>
              <a:rPr lang="fr-FR" sz="800" dirty="0">
                <a:solidFill>
                  <a:schemeClr val="accent1"/>
                </a:solidFill>
              </a:rPr>
              <a:t>FastAPI · Gradio public</a:t>
            </a:r>
          </a:p>
          <a:p>
            <a:r>
              <a:rPr lang="fr-FR" sz="800" dirty="0">
                <a:solidFill>
                  <a:schemeClr val="accent1"/>
                </a:solidFill>
              </a:rPr>
              <a:t>2 répliques chacun en HAUTE DISPO · TLS</a:t>
            </a:r>
            <a:endParaRPr lang="fr-FR" sz="1200" b="1" noProof="0" dirty="0">
              <a:solidFill>
                <a:schemeClr val="accent1"/>
              </a:solidFill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ADE13E1F-CE86-1F17-DE70-17F543CFFA4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8548383" y="5520363"/>
            <a:ext cx="1235245" cy="809140"/>
          </a:xfrm>
          <a:prstGeom prst="bentConnector3">
            <a:avLst>
              <a:gd name="adj1" fmla="val 45999"/>
            </a:avLst>
          </a:prstGeom>
          <a:ln>
            <a:solidFill>
              <a:schemeClr val="bg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Lock with solid fill">
            <a:extLst>
              <a:ext uri="{FF2B5EF4-FFF2-40B4-BE49-F238E27FC236}">
                <a16:creationId xmlns:a16="http://schemas.microsoft.com/office/drawing/2014/main" id="{1CB24FC6-6FA1-F3AF-DDA4-895996DE1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2421" y="4360090"/>
            <a:ext cx="457200" cy="457200"/>
          </a:xfrm>
          <a:prstGeom prst="rect">
            <a:avLst/>
          </a:prstGeom>
        </p:spPr>
      </p:pic>
      <p:pic>
        <p:nvPicPr>
          <p:cNvPr id="16" name="Graphic 15" descr="Lock with solid fill">
            <a:extLst>
              <a:ext uri="{FF2B5EF4-FFF2-40B4-BE49-F238E27FC236}">
                <a16:creationId xmlns:a16="http://schemas.microsoft.com/office/drawing/2014/main" id="{695FF980-A99F-45A8-3DB9-48B994868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1120" y="3585991"/>
            <a:ext cx="457200" cy="457200"/>
          </a:xfrm>
          <a:prstGeom prst="rect">
            <a:avLst/>
          </a:prstGeom>
        </p:spPr>
      </p:pic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FB49F51-6719-0848-5729-72F9A8BC4B3A}"/>
              </a:ext>
            </a:extLst>
          </p:cNvPr>
          <p:cNvSpPr/>
          <p:nvPr/>
        </p:nvSpPr>
        <p:spPr>
          <a:xfrm>
            <a:off x="1789899" y="1647902"/>
            <a:ext cx="1423104" cy="48290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CI</a:t>
            </a:r>
            <a:endParaRPr lang="fr-FR" sz="600" b="1" noProof="0" dirty="0">
              <a:solidFill>
                <a:schemeClr val="bg1"/>
              </a:solidFill>
            </a:endParaRPr>
          </a:p>
          <a:p>
            <a:pPr algn="ctr"/>
            <a:r>
              <a:rPr lang="fr-FR" sz="800" dirty="0">
                <a:solidFill>
                  <a:schemeClr val="bg1"/>
                </a:solidFill>
              </a:rPr>
              <a:t>Q</a:t>
            </a:r>
            <a:r>
              <a:rPr lang="fr-FR" sz="800" noProof="0" dirty="0" err="1">
                <a:solidFill>
                  <a:schemeClr val="bg1"/>
                </a:solidFill>
              </a:rPr>
              <a:t>ualité</a:t>
            </a:r>
            <a:r>
              <a:rPr lang="fr-FR" sz="800" noProof="0" dirty="0">
                <a:solidFill>
                  <a:schemeClr val="bg1"/>
                </a:solidFill>
              </a:rPr>
              <a:t> code</a:t>
            </a:r>
          </a:p>
          <a:p>
            <a:pPr algn="ctr"/>
            <a:r>
              <a:rPr lang="fr-FR" sz="600" noProof="0" dirty="0">
                <a:solidFill>
                  <a:schemeClr val="bg1"/>
                </a:solidFill>
              </a:rPr>
              <a:t>(flake8 · 82 tests pytest · pip-audit) 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3CEC90C-00F7-6C49-D850-51265A590517}"/>
              </a:ext>
            </a:extLst>
          </p:cNvPr>
          <p:cNvSpPr/>
          <p:nvPr/>
        </p:nvSpPr>
        <p:spPr>
          <a:xfrm>
            <a:off x="4221931" y="1647902"/>
            <a:ext cx="1423104" cy="482906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CD</a:t>
            </a:r>
            <a:endParaRPr lang="fr-FR" sz="600" b="1" noProof="0" dirty="0">
              <a:solidFill>
                <a:schemeClr val="bg1"/>
              </a:solidFill>
            </a:endParaRPr>
          </a:p>
          <a:p>
            <a:pPr algn="ctr"/>
            <a:r>
              <a:rPr lang="fr-FR" sz="800" dirty="0">
                <a:solidFill>
                  <a:schemeClr val="bg1"/>
                </a:solidFill>
              </a:rPr>
              <a:t>Build Docker , Trivy , </a:t>
            </a:r>
          </a:p>
          <a:p>
            <a:pPr algn="ctr"/>
            <a:r>
              <a:rPr lang="fr-FR" sz="800" dirty="0">
                <a:solidFill>
                  <a:schemeClr val="bg1"/>
                </a:solidFill>
              </a:rPr>
              <a:t>déploiement VPS, </a:t>
            </a:r>
            <a:r>
              <a:rPr lang="fr-FR" sz="800" dirty="0" err="1">
                <a:solidFill>
                  <a:schemeClr val="bg1"/>
                </a:solidFill>
              </a:rPr>
              <a:t>trig</a:t>
            </a:r>
            <a:r>
              <a:rPr lang="fr-FR" sz="800" dirty="0">
                <a:solidFill>
                  <a:schemeClr val="bg1"/>
                </a:solidFill>
              </a:rPr>
              <a:t> Prefect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840BEB0-31C4-20F8-4054-7B7717B626F0}"/>
              </a:ext>
            </a:extLst>
          </p:cNvPr>
          <p:cNvCxnSpPr>
            <a:cxnSpLocks/>
            <a:endCxn id="7" idx="2"/>
          </p:cNvCxnSpPr>
          <p:nvPr/>
        </p:nvCxnSpPr>
        <p:spPr>
          <a:xfrm rot="10800000">
            <a:off x="1281313" y="5560471"/>
            <a:ext cx="2248124" cy="923193"/>
          </a:xfrm>
          <a:prstGeom prst="bentConnector2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AB3379A-EF2C-B816-7926-17F0145DCD2E}"/>
              </a:ext>
            </a:extLst>
          </p:cNvPr>
          <p:cNvSpPr txBox="1"/>
          <p:nvPr/>
        </p:nvSpPr>
        <p:spPr>
          <a:xfrm>
            <a:off x="2626285" y="6354888"/>
            <a:ext cx="62887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 rtlCol="0">
            <a:spAutoFit/>
          </a:bodyPr>
          <a:lstStyle/>
          <a:p>
            <a:pPr algn="ctr"/>
            <a:r>
              <a:rPr lang="fr-FR" sz="1000" b="1" noProof="0" dirty="0">
                <a:solidFill>
                  <a:schemeClr val="accent1"/>
                </a:solidFill>
              </a:rPr>
              <a:t>DVC pull</a:t>
            </a:r>
          </a:p>
        </p:txBody>
      </p:sp>
      <p:sp>
        <p:nvSpPr>
          <p:cNvPr id="67" name="Rounded Rectangle 66">
            <a:hlinkClick r:id="rId7"/>
            <a:extLst>
              <a:ext uri="{FF2B5EF4-FFF2-40B4-BE49-F238E27FC236}">
                <a16:creationId xmlns:a16="http://schemas.microsoft.com/office/drawing/2014/main" id="{4DD6E5D7-8C50-9482-A1F2-E946C2320852}"/>
              </a:ext>
            </a:extLst>
          </p:cNvPr>
          <p:cNvSpPr/>
          <p:nvPr/>
        </p:nvSpPr>
        <p:spPr>
          <a:xfrm>
            <a:off x="287972" y="4860908"/>
            <a:ext cx="169228" cy="118800"/>
          </a:xfrm>
          <a:prstGeom prst="roundRect">
            <a:avLst/>
          </a:prstGeom>
          <a:solidFill>
            <a:schemeClr val="accent6">
              <a:lumMod val="75000"/>
              <a:alpha val="298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ED9CBE69-9A24-8B74-F724-12A7BC1DB43C}"/>
              </a:ext>
            </a:extLst>
          </p:cNvPr>
          <p:cNvSpPr/>
          <p:nvPr/>
        </p:nvSpPr>
        <p:spPr>
          <a:xfrm>
            <a:off x="486964" y="4860908"/>
            <a:ext cx="236834" cy="118800"/>
          </a:xfrm>
          <a:prstGeom prst="roundRect">
            <a:avLst/>
          </a:prstGeom>
          <a:solidFill>
            <a:srgbClr val="7030A0">
              <a:alpha val="2986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2AE3D9F6-B2C5-E0DB-63CD-1F1AAE8B9F8A}"/>
              </a:ext>
            </a:extLst>
          </p:cNvPr>
          <p:cNvSpPr/>
          <p:nvPr/>
        </p:nvSpPr>
        <p:spPr>
          <a:xfrm>
            <a:off x="268429" y="3771471"/>
            <a:ext cx="218536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EE480F0-93CD-BB96-081B-DE0066BA0D84}"/>
              </a:ext>
            </a:extLst>
          </p:cNvPr>
          <p:cNvSpPr/>
          <p:nvPr/>
        </p:nvSpPr>
        <p:spPr>
          <a:xfrm>
            <a:off x="528163" y="3771471"/>
            <a:ext cx="385092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Rounded Rectangle 72">
            <a:hlinkClick r:id="rId8"/>
            <a:extLst>
              <a:ext uri="{FF2B5EF4-FFF2-40B4-BE49-F238E27FC236}">
                <a16:creationId xmlns:a16="http://schemas.microsoft.com/office/drawing/2014/main" id="{A740CD30-55DD-8B25-0706-31B2D23F4FA7}"/>
              </a:ext>
            </a:extLst>
          </p:cNvPr>
          <p:cNvSpPr/>
          <p:nvPr/>
        </p:nvSpPr>
        <p:spPr>
          <a:xfrm>
            <a:off x="767506" y="4860908"/>
            <a:ext cx="332524" cy="118800"/>
          </a:xfrm>
          <a:prstGeom prst="roundRect">
            <a:avLst/>
          </a:prstGeom>
          <a:solidFill>
            <a:srgbClr val="FFFF00">
              <a:alpha val="2986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0C21E8-EBA1-14A5-7CD6-E430F8D6F0B0}"/>
              </a:ext>
            </a:extLst>
          </p:cNvPr>
          <p:cNvSpPr txBox="1"/>
          <p:nvPr/>
        </p:nvSpPr>
        <p:spPr>
          <a:xfrm>
            <a:off x="2584951" y="4212382"/>
            <a:ext cx="83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Tailscale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CE6402-C5E1-FBE8-1F39-C31D43EAB88A}"/>
              </a:ext>
            </a:extLst>
          </p:cNvPr>
          <p:cNvSpPr txBox="1"/>
          <p:nvPr/>
        </p:nvSpPr>
        <p:spPr>
          <a:xfrm>
            <a:off x="8678995" y="3415063"/>
            <a:ext cx="83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b="1" dirty="0">
                <a:solidFill>
                  <a:schemeClr val="bg1"/>
                </a:solidFill>
              </a:rPr>
              <a:t>Tailscale</a:t>
            </a:r>
          </a:p>
        </p:txBody>
      </p:sp>
      <p:sp>
        <p:nvSpPr>
          <p:cNvPr id="78" name="Rounded Rectangle 77">
            <a:hlinkClick r:id="rId9"/>
            <a:extLst>
              <a:ext uri="{FF2B5EF4-FFF2-40B4-BE49-F238E27FC236}">
                <a16:creationId xmlns:a16="http://schemas.microsoft.com/office/drawing/2014/main" id="{47794F26-E266-6EEB-774F-569F1F44BD7B}"/>
              </a:ext>
            </a:extLst>
          </p:cNvPr>
          <p:cNvSpPr/>
          <p:nvPr/>
        </p:nvSpPr>
        <p:spPr>
          <a:xfrm>
            <a:off x="3726844" y="4856659"/>
            <a:ext cx="365361" cy="118800"/>
          </a:xfrm>
          <a:prstGeom prst="roundRect">
            <a:avLst/>
          </a:prstGeom>
          <a:solidFill>
            <a:schemeClr val="accent2">
              <a:alpha val="298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0C90C51-3D67-4632-BC1B-40940E3DF066}"/>
              </a:ext>
            </a:extLst>
          </p:cNvPr>
          <p:cNvSpPr/>
          <p:nvPr/>
        </p:nvSpPr>
        <p:spPr>
          <a:xfrm>
            <a:off x="3726843" y="3771471"/>
            <a:ext cx="336953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BECA1A63-7049-567E-715A-DF2FA6A2F6BF}"/>
              </a:ext>
            </a:extLst>
          </p:cNvPr>
          <p:cNvSpPr/>
          <p:nvPr/>
        </p:nvSpPr>
        <p:spPr>
          <a:xfrm>
            <a:off x="4092205" y="3771471"/>
            <a:ext cx="263265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1" name="Rounded Rectangle 80">
            <a:hlinkClick r:id="rId10"/>
            <a:extLst>
              <a:ext uri="{FF2B5EF4-FFF2-40B4-BE49-F238E27FC236}">
                <a16:creationId xmlns:a16="http://schemas.microsoft.com/office/drawing/2014/main" id="{102685FA-CF80-5BD0-696C-4C42E53956FB}"/>
              </a:ext>
            </a:extLst>
          </p:cNvPr>
          <p:cNvSpPr/>
          <p:nvPr/>
        </p:nvSpPr>
        <p:spPr>
          <a:xfrm>
            <a:off x="5674423" y="3771471"/>
            <a:ext cx="306000" cy="118800"/>
          </a:xfrm>
          <a:prstGeom prst="roundRect">
            <a:avLst/>
          </a:prstGeom>
          <a:solidFill>
            <a:srgbClr val="FF00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2" name="Rounded Rectangle 81">
            <a:hlinkClick r:id="rId11"/>
            <a:extLst>
              <a:ext uri="{FF2B5EF4-FFF2-40B4-BE49-F238E27FC236}">
                <a16:creationId xmlns:a16="http://schemas.microsoft.com/office/drawing/2014/main" id="{31BABECF-CE7D-1AEB-77F6-C556760472DA}"/>
              </a:ext>
            </a:extLst>
          </p:cNvPr>
          <p:cNvSpPr/>
          <p:nvPr/>
        </p:nvSpPr>
        <p:spPr>
          <a:xfrm>
            <a:off x="6987190" y="3771471"/>
            <a:ext cx="565753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3" name="Rounded Rectangle 82">
            <a:hlinkClick r:id="rId12"/>
            <a:extLst>
              <a:ext uri="{FF2B5EF4-FFF2-40B4-BE49-F238E27FC236}">
                <a16:creationId xmlns:a16="http://schemas.microsoft.com/office/drawing/2014/main" id="{288D5B81-4F78-B605-8B7A-59ED23854D2D}"/>
              </a:ext>
            </a:extLst>
          </p:cNvPr>
          <p:cNvSpPr/>
          <p:nvPr/>
        </p:nvSpPr>
        <p:spPr>
          <a:xfrm>
            <a:off x="7586891" y="3771471"/>
            <a:ext cx="394237" cy="1188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98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DA25E65C-2B13-8443-8D26-79B625A5536B}"/>
              </a:ext>
            </a:extLst>
          </p:cNvPr>
          <p:cNvSpPr/>
          <p:nvPr/>
        </p:nvSpPr>
        <p:spPr>
          <a:xfrm>
            <a:off x="8022325" y="3771471"/>
            <a:ext cx="241334" cy="11880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98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C6813E60-EA00-142C-55DA-8B48BC90C5FE}"/>
              </a:ext>
            </a:extLst>
          </p:cNvPr>
          <p:cNvSpPr/>
          <p:nvPr/>
        </p:nvSpPr>
        <p:spPr>
          <a:xfrm>
            <a:off x="10474112" y="3771471"/>
            <a:ext cx="365361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7" name="Rounded Rectangle 86">
            <a:hlinkClick r:id="rId13"/>
            <a:extLst>
              <a:ext uri="{FF2B5EF4-FFF2-40B4-BE49-F238E27FC236}">
                <a16:creationId xmlns:a16="http://schemas.microsoft.com/office/drawing/2014/main" id="{12A6363E-9700-CEC8-F5E9-94163E671391}"/>
              </a:ext>
            </a:extLst>
          </p:cNvPr>
          <p:cNvSpPr/>
          <p:nvPr/>
        </p:nvSpPr>
        <p:spPr>
          <a:xfrm>
            <a:off x="9855295" y="3771471"/>
            <a:ext cx="565753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16D424DA-5A36-190A-DD18-8CDE5773B9A5}"/>
              </a:ext>
            </a:extLst>
          </p:cNvPr>
          <p:cNvSpPr/>
          <p:nvPr/>
        </p:nvSpPr>
        <p:spPr>
          <a:xfrm>
            <a:off x="6636740" y="4856659"/>
            <a:ext cx="510446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327DED9D-3406-E518-1768-BB201493E59A}"/>
              </a:ext>
            </a:extLst>
          </p:cNvPr>
          <p:cNvSpPr/>
          <p:nvPr/>
        </p:nvSpPr>
        <p:spPr>
          <a:xfrm>
            <a:off x="7209057" y="4856659"/>
            <a:ext cx="308630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AD343690-A423-49FD-B2CD-6BA598FFB9C7}"/>
              </a:ext>
            </a:extLst>
          </p:cNvPr>
          <p:cNvSpPr/>
          <p:nvPr/>
        </p:nvSpPr>
        <p:spPr>
          <a:xfrm>
            <a:off x="9842701" y="5414119"/>
            <a:ext cx="336953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A3D6EB2-1C2B-4A9A-F31A-797A3F7EAA1C}"/>
              </a:ext>
            </a:extLst>
          </p:cNvPr>
          <p:cNvSpPr/>
          <p:nvPr/>
        </p:nvSpPr>
        <p:spPr>
          <a:xfrm>
            <a:off x="10208063" y="5414118"/>
            <a:ext cx="263265" cy="118800"/>
          </a:xfrm>
          <a:prstGeom prst="roundRect">
            <a:avLst/>
          </a:prstGeom>
          <a:solidFill>
            <a:schemeClr val="bg1">
              <a:lumMod val="75000"/>
              <a:alpha val="277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3" name="Rounded Rectangle 92">
            <a:hlinkClick r:id="rId14"/>
            <a:extLst>
              <a:ext uri="{FF2B5EF4-FFF2-40B4-BE49-F238E27FC236}">
                <a16:creationId xmlns:a16="http://schemas.microsoft.com/office/drawing/2014/main" id="{7D22C5F6-BF93-B0AA-955A-176552572ACD}"/>
              </a:ext>
            </a:extLst>
          </p:cNvPr>
          <p:cNvSpPr/>
          <p:nvPr/>
        </p:nvSpPr>
        <p:spPr>
          <a:xfrm>
            <a:off x="9859559" y="6222362"/>
            <a:ext cx="336953" cy="118800"/>
          </a:xfrm>
          <a:prstGeom prst="roundRect">
            <a:avLst/>
          </a:prstGeom>
          <a:solidFill>
            <a:srgbClr val="FF00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4" name="Rounded Rectangle 93">
            <a:hlinkClick r:id="rId15"/>
            <a:extLst>
              <a:ext uri="{FF2B5EF4-FFF2-40B4-BE49-F238E27FC236}">
                <a16:creationId xmlns:a16="http://schemas.microsoft.com/office/drawing/2014/main" id="{9BE8756E-8D42-061F-F061-BE02923ECFEA}"/>
              </a:ext>
            </a:extLst>
          </p:cNvPr>
          <p:cNvSpPr/>
          <p:nvPr/>
        </p:nvSpPr>
        <p:spPr>
          <a:xfrm>
            <a:off x="10559355" y="6222361"/>
            <a:ext cx="306000" cy="118800"/>
          </a:xfrm>
          <a:prstGeom prst="roundRect">
            <a:avLst/>
          </a:prstGeom>
          <a:solidFill>
            <a:srgbClr val="FF00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5" name="Rounded Rectangle 94">
            <a:hlinkClick r:id="rId8"/>
            <a:extLst>
              <a:ext uri="{FF2B5EF4-FFF2-40B4-BE49-F238E27FC236}">
                <a16:creationId xmlns:a16="http://schemas.microsoft.com/office/drawing/2014/main" id="{841D3AB2-C5C9-1C15-A33E-72147DDB3036}"/>
              </a:ext>
            </a:extLst>
          </p:cNvPr>
          <p:cNvSpPr/>
          <p:nvPr/>
        </p:nvSpPr>
        <p:spPr>
          <a:xfrm>
            <a:off x="6194788" y="4856659"/>
            <a:ext cx="332524" cy="118800"/>
          </a:xfrm>
          <a:prstGeom prst="roundRect">
            <a:avLst/>
          </a:prstGeom>
          <a:solidFill>
            <a:srgbClr val="FFFF00">
              <a:alpha val="2986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6" name="Rounded Rectangle 95">
            <a:hlinkClick r:id="rId16"/>
            <a:extLst>
              <a:ext uri="{FF2B5EF4-FFF2-40B4-BE49-F238E27FC236}">
                <a16:creationId xmlns:a16="http://schemas.microsoft.com/office/drawing/2014/main" id="{69E87BD0-DB2E-B49E-132C-9CFF7B59735A}"/>
              </a:ext>
            </a:extLst>
          </p:cNvPr>
          <p:cNvSpPr/>
          <p:nvPr/>
        </p:nvSpPr>
        <p:spPr>
          <a:xfrm>
            <a:off x="6079843" y="3771471"/>
            <a:ext cx="306000" cy="118800"/>
          </a:xfrm>
          <a:prstGeom prst="roundRect">
            <a:avLst/>
          </a:prstGeom>
          <a:solidFill>
            <a:srgbClr val="FF00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15DE9660-38A1-F6C3-D569-BB18CB85DD0A}"/>
              </a:ext>
            </a:extLst>
          </p:cNvPr>
          <p:cNvSpPr/>
          <p:nvPr/>
        </p:nvSpPr>
        <p:spPr>
          <a:xfrm>
            <a:off x="3529437" y="6195663"/>
            <a:ext cx="5012843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bg1"/>
                </a:solidFill>
              </a:rPr>
              <a:t>SERVICES S3</a:t>
            </a:r>
          </a:p>
          <a:p>
            <a:r>
              <a:rPr lang="en-GB" sz="800" i="1" dirty="0"/>
              <a:t>Stockage </a:t>
            </a:r>
            <a:r>
              <a:rPr lang="en-GB" sz="800" i="1" dirty="0" err="1"/>
              <a:t>objet</a:t>
            </a:r>
            <a:r>
              <a:rPr lang="en-GB" sz="800" i="1" dirty="0"/>
              <a:t> distant pour artefacts </a:t>
            </a:r>
            <a:r>
              <a:rPr lang="en-GB" sz="800" i="1" dirty="0" err="1"/>
              <a:t>MLflow</a:t>
            </a:r>
            <a:r>
              <a:rPr lang="en-GB" sz="800" i="1" dirty="0"/>
              <a:t> et données DVC</a:t>
            </a:r>
            <a:endParaRPr lang="fr-FR" sz="800" b="1" i="1" noProof="0" dirty="0">
              <a:solidFill>
                <a:schemeClr val="bg1"/>
              </a:solidFill>
            </a:endParaRPr>
          </a:p>
        </p:txBody>
      </p:sp>
      <p:sp>
        <p:nvSpPr>
          <p:cNvPr id="102" name="Rounded Rectangle 101">
            <a:hlinkClick r:id="rId17"/>
            <a:extLst>
              <a:ext uri="{FF2B5EF4-FFF2-40B4-BE49-F238E27FC236}">
                <a16:creationId xmlns:a16="http://schemas.microsoft.com/office/drawing/2014/main" id="{A97EBC38-A7E3-40ED-BCE6-69B544753B56}"/>
              </a:ext>
            </a:extLst>
          </p:cNvPr>
          <p:cNvSpPr/>
          <p:nvPr/>
        </p:nvSpPr>
        <p:spPr>
          <a:xfrm>
            <a:off x="5373982" y="3890271"/>
            <a:ext cx="336953" cy="118800"/>
          </a:xfrm>
          <a:prstGeom prst="roundRect">
            <a:avLst/>
          </a:prstGeom>
          <a:solidFill>
            <a:srgbClr val="FF0000">
              <a:alpha val="277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ounded Rectangle 10">
            <a:hlinkClick r:id="rId18"/>
            <a:extLst>
              <a:ext uri="{FF2B5EF4-FFF2-40B4-BE49-F238E27FC236}">
                <a16:creationId xmlns:a16="http://schemas.microsoft.com/office/drawing/2014/main" id="{5CB3093B-2287-D80D-4CBE-3BDFD5176307}"/>
              </a:ext>
            </a:extLst>
          </p:cNvPr>
          <p:cNvSpPr/>
          <p:nvPr/>
        </p:nvSpPr>
        <p:spPr>
          <a:xfrm>
            <a:off x="3354578" y="2053655"/>
            <a:ext cx="706954" cy="98610"/>
          </a:xfrm>
          <a:prstGeom prst="roundRect">
            <a:avLst/>
          </a:prstGeom>
          <a:solidFill>
            <a:srgbClr val="FFFF00">
              <a:alpha val="3604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Rounded Rectangle 11">
            <a:hlinkClick r:id="rId4"/>
            <a:extLst>
              <a:ext uri="{FF2B5EF4-FFF2-40B4-BE49-F238E27FC236}">
                <a16:creationId xmlns:a16="http://schemas.microsoft.com/office/drawing/2014/main" id="{95A53892-2FA2-C8FC-FE06-32E985C08ADB}"/>
              </a:ext>
            </a:extLst>
          </p:cNvPr>
          <p:cNvSpPr/>
          <p:nvPr/>
        </p:nvSpPr>
        <p:spPr>
          <a:xfrm>
            <a:off x="2411451" y="1707265"/>
            <a:ext cx="180000" cy="144000"/>
          </a:xfrm>
          <a:prstGeom prst="roundRect">
            <a:avLst/>
          </a:prstGeom>
          <a:solidFill>
            <a:srgbClr val="FFFF00">
              <a:alpha val="3604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3" name="Rounded Rectangle 12">
            <a:hlinkClick r:id="rId4"/>
            <a:extLst>
              <a:ext uri="{FF2B5EF4-FFF2-40B4-BE49-F238E27FC236}">
                <a16:creationId xmlns:a16="http://schemas.microsoft.com/office/drawing/2014/main" id="{28B20D28-02E9-94E9-7C67-8EF045527030}"/>
              </a:ext>
            </a:extLst>
          </p:cNvPr>
          <p:cNvSpPr/>
          <p:nvPr/>
        </p:nvSpPr>
        <p:spPr>
          <a:xfrm>
            <a:off x="4807483" y="1693159"/>
            <a:ext cx="251999" cy="144000"/>
          </a:xfrm>
          <a:prstGeom prst="roundRect">
            <a:avLst/>
          </a:prstGeom>
          <a:solidFill>
            <a:srgbClr val="FFFF00">
              <a:alpha val="3604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" name="Rounded Rectangle 16">
            <a:hlinkClick r:id="rId18"/>
            <a:extLst>
              <a:ext uri="{FF2B5EF4-FFF2-40B4-BE49-F238E27FC236}">
                <a16:creationId xmlns:a16="http://schemas.microsoft.com/office/drawing/2014/main" id="{555F4CCD-14AF-345E-D12E-C70516516C59}"/>
              </a:ext>
            </a:extLst>
          </p:cNvPr>
          <p:cNvSpPr/>
          <p:nvPr/>
        </p:nvSpPr>
        <p:spPr>
          <a:xfrm>
            <a:off x="1139425" y="2032876"/>
            <a:ext cx="279600" cy="609352"/>
          </a:xfrm>
          <a:prstGeom prst="roundRect">
            <a:avLst/>
          </a:prstGeom>
          <a:solidFill>
            <a:srgbClr val="FFFF00">
              <a:alpha val="3604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8" name="Rounded Rectangle 17">
            <a:hlinkClick r:id="rId19"/>
            <a:extLst>
              <a:ext uri="{FF2B5EF4-FFF2-40B4-BE49-F238E27FC236}">
                <a16:creationId xmlns:a16="http://schemas.microsoft.com/office/drawing/2014/main" id="{9DFA2F53-D8D7-C264-2CF2-FC9BA848DD07}"/>
              </a:ext>
            </a:extLst>
          </p:cNvPr>
          <p:cNvSpPr/>
          <p:nvPr/>
        </p:nvSpPr>
        <p:spPr>
          <a:xfrm>
            <a:off x="10998200" y="2383980"/>
            <a:ext cx="905828" cy="130620"/>
          </a:xfrm>
          <a:prstGeom prst="roundRect">
            <a:avLst/>
          </a:prstGeom>
          <a:solidFill>
            <a:srgbClr val="FFFF0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D2E375-5EDC-43A1-009F-49DBA5B94351}"/>
              </a:ext>
            </a:extLst>
          </p:cNvPr>
          <p:cNvCxnSpPr>
            <a:cxnSpLocks/>
          </p:cNvCxnSpPr>
          <p:nvPr/>
        </p:nvCxnSpPr>
        <p:spPr>
          <a:xfrm flipH="1">
            <a:off x="8525612" y="6471620"/>
            <a:ext cx="1219914" cy="6378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961AEB1-DED1-AC63-ABA9-6322F24693C5}"/>
              </a:ext>
            </a:extLst>
          </p:cNvPr>
          <p:cNvSpPr txBox="1"/>
          <p:nvPr/>
        </p:nvSpPr>
        <p:spPr>
          <a:xfrm>
            <a:off x="8816155" y="6353635"/>
            <a:ext cx="619325" cy="215444"/>
          </a:xfrm>
          <a:prstGeom prst="rect">
            <a:avLst/>
          </a:prstGeom>
          <a:solidFill>
            <a:srgbClr val="C2DBE4"/>
          </a:solidFill>
        </p:spPr>
        <p:txBody>
          <a:bodyPr wrap="square" lIns="36000" rIns="36000" rtlCol="0">
            <a:spAutoFit/>
          </a:bodyPr>
          <a:lstStyle/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Prédictions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239482-E0D7-70CD-5BFB-CEDF2F7AA601}"/>
              </a:ext>
            </a:extLst>
          </p:cNvPr>
          <p:cNvCxnSpPr>
            <a:cxnSpLocks/>
          </p:cNvCxnSpPr>
          <p:nvPr/>
        </p:nvCxnSpPr>
        <p:spPr>
          <a:xfrm flipV="1">
            <a:off x="7147186" y="5532918"/>
            <a:ext cx="0" cy="66274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CCE9C3F-7471-EE58-825F-6742504CA5E9}"/>
              </a:ext>
            </a:extLst>
          </p:cNvPr>
          <p:cNvSpPr txBox="1"/>
          <p:nvPr/>
        </p:nvSpPr>
        <p:spPr>
          <a:xfrm>
            <a:off x="6498969" y="5724812"/>
            <a:ext cx="675074" cy="46166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Import prédictions k8s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6696E6FB-A950-C570-7D18-CB8697515469}"/>
              </a:ext>
            </a:extLst>
          </p:cNvPr>
          <p:cNvSpPr/>
          <p:nvPr/>
        </p:nvSpPr>
        <p:spPr>
          <a:xfrm>
            <a:off x="3527683" y="6195663"/>
            <a:ext cx="5012843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fr-FR" sz="1200" b="1" noProof="0" dirty="0">
                <a:solidFill>
                  <a:schemeClr val="bg1"/>
                </a:solidFill>
              </a:rPr>
              <a:t>SERVICES S3</a:t>
            </a:r>
          </a:p>
          <a:p>
            <a:r>
              <a:rPr lang="fr-FR" sz="800" noProof="0" dirty="0">
                <a:solidFill>
                  <a:schemeClr val="bg1"/>
                </a:solidFill>
              </a:rPr>
              <a:t>DVC (données ONISR </a:t>
            </a:r>
            <a:r>
              <a:rPr lang="fr-FR" sz="800" dirty="0">
                <a:solidFill>
                  <a:schemeClr val="bg1"/>
                </a:solidFill>
              </a:rPr>
              <a:t>versionnées) · </a:t>
            </a:r>
            <a:r>
              <a:rPr lang="fr-FR" sz="800" noProof="0" dirty="0">
                <a:solidFill>
                  <a:schemeClr val="bg1"/>
                </a:solidFill>
              </a:rPr>
              <a:t>Modèles + données  Kapsule · Certificat TLS </a:t>
            </a:r>
            <a:r>
              <a:rPr lang="fr-FR" sz="800" dirty="0">
                <a:solidFill>
                  <a:schemeClr val="bg1"/>
                </a:solidFill>
              </a:rPr>
              <a:t>Caddy · </a:t>
            </a:r>
            <a:r>
              <a:rPr lang="en-FR" sz="800" dirty="0">
                <a:solidFill>
                  <a:schemeClr val="bg1"/>
                </a:solidFill>
              </a:rPr>
              <a:t>Secrets : clés Tailscale, Grafana, accès Caddy, token GitHub </a:t>
            </a:r>
            <a:r>
              <a:rPr lang="fr-FR" sz="800" dirty="0">
                <a:solidFill>
                  <a:schemeClr val="bg1"/>
                </a:solidFill>
              </a:rPr>
              <a:t>· Prédictions K8s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BC2B7AC-1821-A167-3479-8F50C21F750C}"/>
              </a:ext>
            </a:extLst>
          </p:cNvPr>
          <p:cNvGrpSpPr/>
          <p:nvPr/>
        </p:nvGrpSpPr>
        <p:grpSpPr>
          <a:xfrm>
            <a:off x="3584467" y="1774800"/>
            <a:ext cx="266000" cy="237292"/>
            <a:chOff x="7121397" y="1645798"/>
            <a:chExt cx="266000" cy="23729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CC44A7F-31A3-915F-FED7-849CE5A98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447"/>
            <a:stretch/>
          </p:blipFill>
          <p:spPr>
            <a:xfrm>
              <a:off x="7121397" y="1645798"/>
              <a:ext cx="266000" cy="237292"/>
            </a:xfrm>
            <a:prstGeom prst="rect">
              <a:avLst/>
            </a:prstGeom>
            <a:noFill/>
          </p:spPr>
        </p:pic>
        <p:sp>
          <p:nvSpPr>
            <p:cNvPr id="32" name="Oval 31">
              <a:hlinkClick r:id="rId21" action="ppaction://hlinksldjump"/>
              <a:extLst>
                <a:ext uri="{FF2B5EF4-FFF2-40B4-BE49-F238E27FC236}">
                  <a16:creationId xmlns:a16="http://schemas.microsoft.com/office/drawing/2014/main" id="{B859C8E0-80EA-8F26-B630-0B875414673C}"/>
                </a:ext>
              </a:extLst>
            </p:cNvPr>
            <p:cNvSpPr/>
            <p:nvPr/>
          </p:nvSpPr>
          <p:spPr>
            <a:xfrm>
              <a:off x="7146612" y="1646830"/>
              <a:ext cx="222250" cy="22225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F4AB729A-ECE3-7951-45AC-FADA6360D700}"/>
              </a:ext>
            </a:extLst>
          </p:cNvPr>
          <p:cNvCxnSpPr>
            <a:cxnSpLocks/>
            <a:stCxn id="32" idx="6"/>
            <a:endCxn id="56" idx="1"/>
          </p:cNvCxnSpPr>
          <p:nvPr/>
        </p:nvCxnSpPr>
        <p:spPr>
          <a:xfrm>
            <a:off x="3831932" y="1886957"/>
            <a:ext cx="389999" cy="2398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0A17BB9-B463-CD03-F54E-09008589AB30}"/>
              </a:ext>
            </a:extLst>
          </p:cNvPr>
          <p:cNvGrpSpPr/>
          <p:nvPr/>
        </p:nvGrpSpPr>
        <p:grpSpPr>
          <a:xfrm>
            <a:off x="6430416" y="1774800"/>
            <a:ext cx="266000" cy="237292"/>
            <a:chOff x="7293120" y="1588619"/>
            <a:chExt cx="266000" cy="237292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629C972-1178-4773-4DBF-52F0F81C8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447"/>
            <a:stretch/>
          </p:blipFill>
          <p:spPr>
            <a:xfrm>
              <a:off x="7293120" y="1588619"/>
              <a:ext cx="266000" cy="237292"/>
            </a:xfrm>
            <a:prstGeom prst="rect">
              <a:avLst/>
            </a:prstGeom>
            <a:noFill/>
          </p:spPr>
        </p:pic>
        <p:sp>
          <p:nvSpPr>
            <p:cNvPr id="63" name="Oval 62">
              <a:hlinkClick r:id="rId21" action="ppaction://hlinksldjump"/>
              <a:extLst>
                <a:ext uri="{FF2B5EF4-FFF2-40B4-BE49-F238E27FC236}">
                  <a16:creationId xmlns:a16="http://schemas.microsoft.com/office/drawing/2014/main" id="{2CD48EC4-EAC4-5438-4E0D-3F55CCC2C155}"/>
                </a:ext>
              </a:extLst>
            </p:cNvPr>
            <p:cNvSpPr/>
            <p:nvPr/>
          </p:nvSpPr>
          <p:spPr>
            <a:xfrm>
              <a:off x="7318335" y="1589651"/>
              <a:ext cx="222250" cy="222250"/>
            </a:xfrm>
            <a:prstGeom prst="ellipse">
              <a:avLst/>
            </a:prstGeom>
            <a:no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F9CA4C5A-92EE-3E87-7A3D-4B2265E7B883}"/>
              </a:ext>
            </a:extLst>
          </p:cNvPr>
          <p:cNvCxnSpPr>
            <a:cxnSpLocks/>
            <a:stCxn id="63" idx="4"/>
          </p:cNvCxnSpPr>
          <p:nvPr/>
        </p:nvCxnSpPr>
        <p:spPr>
          <a:xfrm rot="16200000" flipH="1">
            <a:off x="6193306" y="2371532"/>
            <a:ext cx="746900" cy="0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hlinkClick r:id="rId4"/>
            <a:extLst>
              <a:ext uri="{FF2B5EF4-FFF2-40B4-BE49-F238E27FC236}">
                <a16:creationId xmlns:a16="http://schemas.microsoft.com/office/drawing/2014/main" id="{319D322A-65AC-3D72-6E66-CEFB1E56ADF3}"/>
              </a:ext>
            </a:extLst>
          </p:cNvPr>
          <p:cNvSpPr/>
          <p:nvPr/>
        </p:nvSpPr>
        <p:spPr>
          <a:xfrm>
            <a:off x="6427833" y="1606825"/>
            <a:ext cx="251999" cy="144000"/>
          </a:xfrm>
          <a:prstGeom prst="roundRect">
            <a:avLst/>
          </a:prstGeom>
          <a:solidFill>
            <a:srgbClr val="FFFF00">
              <a:alpha val="3604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269E0C4-2B54-E85B-EE49-7C4C740AF80A}"/>
              </a:ext>
            </a:extLst>
          </p:cNvPr>
          <p:cNvSpPr txBox="1"/>
          <p:nvPr/>
        </p:nvSpPr>
        <p:spPr>
          <a:xfrm>
            <a:off x="5855226" y="1727706"/>
            <a:ext cx="452254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Github Action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9FE55D5-4D48-1B3F-4DD7-178E96EDD515}"/>
              </a:ext>
            </a:extLst>
          </p:cNvPr>
          <p:cNvSpPr txBox="1"/>
          <p:nvPr/>
        </p:nvSpPr>
        <p:spPr>
          <a:xfrm rot="5400000">
            <a:off x="6423403" y="2069060"/>
            <a:ext cx="4522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Prfect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D3D2FDD-86DD-98BA-4F1B-8F09D7B0A73E}"/>
              </a:ext>
            </a:extLst>
          </p:cNvPr>
          <p:cNvSpPr txBox="1"/>
          <p:nvPr/>
        </p:nvSpPr>
        <p:spPr>
          <a:xfrm>
            <a:off x="8666214" y="6514574"/>
            <a:ext cx="919205" cy="246221"/>
          </a:xfrm>
          <a:prstGeom prst="rect">
            <a:avLst/>
          </a:prstGeom>
          <a:solidFill>
            <a:srgbClr val="C2DBE4"/>
          </a:solidFill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Copie modèle + données Cockpit</a:t>
            </a:r>
            <a:endParaRPr lang="fr-FR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97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5" grpId="0" animBg="1"/>
      <p:bldP spid="15" grpId="1" animBg="1"/>
      <p:bldP spid="15" grpId="2" animBg="1"/>
      <p:bldP spid="22" grpId="0" animBg="1"/>
      <p:bldP spid="22" grpId="1" animBg="1"/>
      <p:bldP spid="26" grpId="0" animBg="1"/>
      <p:bldP spid="26" grpId="1" animBg="1"/>
      <p:bldP spid="34" grpId="0" animBg="1"/>
      <p:bldP spid="34" grpId="1" animBg="1"/>
      <p:bldP spid="45" grpId="0" animBg="1"/>
      <p:bldP spid="45" grpId="1" animBg="1"/>
      <p:bldP spid="53" grpId="0" animBg="1"/>
      <p:bldP spid="53" grpId="1" animBg="1"/>
      <p:bldP spid="57" grpId="0" animBg="1"/>
      <p:bldP spid="57" grpId="1" animBg="1"/>
      <p:bldP spid="14" grpId="0"/>
      <p:bldP spid="14" grpId="1"/>
      <p:bldP spid="61" grpId="0"/>
      <p:bldP spid="61" grpId="1"/>
      <p:bldP spid="8" grpId="0"/>
      <p:bldP spid="8" grpId="1"/>
      <p:bldP spid="52" grpId="0"/>
      <p:bldP spid="52" grpId="1"/>
      <p:bldP spid="54" grpId="0"/>
      <p:bldP spid="54" grpId="1"/>
      <p:bldP spid="54" grpId="2"/>
      <p:bldP spid="5" grpId="0" animBg="1"/>
      <p:bldP spid="5" grpId="1" animBg="1"/>
      <p:bldP spid="6" grpId="0" animBg="1"/>
      <p:bldP spid="6" grpId="1" animBg="1"/>
      <p:bldP spid="20" grpId="0"/>
      <p:bldP spid="20" grpId="1"/>
      <p:bldP spid="37" grpId="0" animBg="1"/>
      <p:bldP spid="37" grpId="1" animBg="1"/>
      <p:bldP spid="55" grpId="0" animBg="1"/>
      <p:bldP spid="55" grpId="1" animBg="1"/>
      <p:bldP spid="56" grpId="0" animBg="1"/>
      <p:bldP spid="56" grpId="1" animBg="1"/>
      <p:bldP spid="41" grpId="0" animBg="1"/>
      <p:bldP spid="41" grpId="1" animBg="1"/>
      <p:bldP spid="67" grpId="0" animBg="1"/>
      <p:bldP spid="68" grpId="0" animBg="1"/>
      <p:bldP spid="70" grpId="0" animBg="1"/>
      <p:bldP spid="72" grpId="0" animBg="1"/>
      <p:bldP spid="73" grpId="0" animBg="1"/>
      <p:bldP spid="76" grpId="0"/>
      <p:bldP spid="77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3" grpId="0" animBg="1"/>
      <p:bldP spid="94" grpId="0" animBg="1"/>
      <p:bldP spid="95" grpId="0" animBg="1"/>
      <p:bldP spid="96" grpId="0" animBg="1"/>
      <p:bldP spid="102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23" grpId="0" animBg="1"/>
      <p:bldP spid="23" grpId="1" animBg="1"/>
      <p:bldP spid="23" grpId="2" animBg="1"/>
      <p:bldP spid="38" grpId="0"/>
      <p:bldP spid="38" grpId="1"/>
      <p:bldP spid="62" grpId="0" animBg="1"/>
      <p:bldP spid="62" grpId="1" animBg="1"/>
      <p:bldP spid="98" grpId="0" animBg="1"/>
      <p:bldP spid="99" grpId="0"/>
      <p:bldP spid="101" grpId="0"/>
      <p:bldP spid="92" grpId="0"/>
      <p:bldP spid="9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9EDE-93C4-C3D0-0B74-9CF79D14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3B1176-C2F0-4CE3-B179-1B89EF630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238032"/>
            <a:ext cx="9611581" cy="2558305"/>
          </a:xfrm>
        </p:spPr>
        <p:txBody>
          <a:bodyPr anchor="b">
            <a:normAutofit/>
          </a:bodyPr>
          <a:lstStyle/>
          <a:p>
            <a:pPr algn="l"/>
            <a:r>
              <a:rPr lang="en-FR" sz="5400">
                <a:solidFill>
                  <a:schemeClr val="tx2"/>
                </a:solidFill>
              </a:rPr>
              <a:t>Annexes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5821C1-6C10-356F-5901-420B94ACC574}"/>
              </a:ext>
            </a:extLst>
          </p:cNvPr>
          <p:cNvCxnSpPr>
            <a:cxnSpLocks/>
          </p:cNvCxnSpPr>
          <p:nvPr/>
        </p:nvCxnSpPr>
        <p:spPr>
          <a:xfrm>
            <a:off x="817123" y="6527261"/>
            <a:ext cx="10817158" cy="0"/>
          </a:xfrm>
          <a:prstGeom prst="line">
            <a:avLst/>
          </a:prstGeom>
          <a:ln>
            <a:solidFill>
              <a:srgbClr val="163E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CCB4C4-2C5D-7479-38D5-E265623E3C9E}"/>
              </a:ext>
            </a:extLst>
          </p:cNvPr>
          <p:cNvCxnSpPr/>
          <p:nvPr/>
        </p:nvCxnSpPr>
        <p:spPr>
          <a:xfrm flipV="1">
            <a:off x="732567" y="246028"/>
            <a:ext cx="255496" cy="546559"/>
          </a:xfrm>
          <a:prstGeom prst="line">
            <a:avLst/>
          </a:prstGeom>
          <a:ln>
            <a:solidFill>
              <a:srgbClr val="163E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053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AA33-FCFA-3B41-1143-02081E81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person&#10;&#10;AI-generated content may be incorrect.">
            <a:extLst>
              <a:ext uri="{FF2B5EF4-FFF2-40B4-BE49-F238E27FC236}">
                <a16:creationId xmlns:a16="http://schemas.microsoft.com/office/drawing/2014/main" id="{0414D868-5EF5-C2AA-A2EE-DF25BD1740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594094" y="3711205"/>
            <a:ext cx="713041" cy="691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5C7FD9-5A26-7159-EA88-5C3B87A9604F}"/>
              </a:ext>
            </a:extLst>
          </p:cNvPr>
          <p:cNvSpPr txBox="1"/>
          <p:nvPr/>
        </p:nvSpPr>
        <p:spPr>
          <a:xfrm>
            <a:off x="4514027" y="126164"/>
            <a:ext cx="1187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/>
              <a:t>Léon</a:t>
            </a:r>
            <a:br>
              <a:rPr lang="en-FR" sz="1200"/>
            </a:br>
            <a:r>
              <a:rPr lang="en-FR" sz="1200"/>
              <a:t>MLOPs lead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E890F-A362-3B1E-0A45-691D4E1FAB05}"/>
              </a:ext>
            </a:extLst>
          </p:cNvPr>
          <p:cNvSpPr/>
          <p:nvPr/>
        </p:nvSpPr>
        <p:spPr>
          <a:xfrm>
            <a:off x="0" y="-1"/>
            <a:ext cx="12192000" cy="1271752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E4367-683E-2CD0-528C-141B71B5FA5D}"/>
              </a:ext>
            </a:extLst>
          </p:cNvPr>
          <p:cNvSpPr txBox="1"/>
          <p:nvPr/>
        </p:nvSpPr>
        <p:spPr>
          <a:xfrm>
            <a:off x="0" y="440357"/>
            <a:ext cx="9590049" cy="646331"/>
          </a:xfrm>
          <a:prstGeom prst="rect">
            <a:avLst/>
          </a:prstGeom>
          <a:noFill/>
        </p:spPr>
        <p:txBody>
          <a:bodyPr wrap="square" lIns="288000">
            <a:spAutoFit/>
          </a:bodyPr>
          <a:lstStyle/>
          <a:p>
            <a:r>
              <a:rPr lang="en-FR" sz="2400" b="1" dirty="0">
                <a:solidFill>
                  <a:srgbClr val="156082"/>
                </a:solidFill>
              </a:rPr>
              <a:t>Sécurité</a:t>
            </a:r>
            <a:br>
              <a:rPr lang="en-FR" sz="2400" b="1" dirty="0">
                <a:solidFill>
                  <a:srgbClr val="156082"/>
                </a:solidFill>
              </a:rPr>
            </a:br>
            <a:r>
              <a:rPr lang="en-FR" sz="1200" dirty="0">
                <a:solidFill>
                  <a:srgbClr val="156082"/>
                </a:solidFill>
              </a:rPr>
              <a:t>Fondamentaux de la solution #4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B7CAE-F013-3C11-37F3-DECF551DEE3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5754814" y="2212239"/>
            <a:ext cx="927586" cy="798956"/>
          </a:xfrm>
          <a:prstGeom prst="rect">
            <a:avLst/>
          </a:prstGeom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5287816-F36F-15E7-E4B6-AD2A27150946}"/>
              </a:ext>
            </a:extLst>
          </p:cNvPr>
          <p:cNvSpPr/>
          <p:nvPr/>
        </p:nvSpPr>
        <p:spPr>
          <a:xfrm>
            <a:off x="3647860" y="3374839"/>
            <a:ext cx="5141495" cy="136438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C13E39AC-947C-6D7E-97AC-BD5D270832A2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2730924" y="2609673"/>
            <a:ext cx="668771" cy="424726"/>
          </a:xfrm>
          <a:prstGeom prst="curved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E6C567A-7509-1756-79DD-013D91396D8D}"/>
              </a:ext>
            </a:extLst>
          </p:cNvPr>
          <p:cNvSpPr/>
          <p:nvPr/>
        </p:nvSpPr>
        <p:spPr>
          <a:xfrm>
            <a:off x="4028136" y="3380478"/>
            <a:ext cx="489284" cy="1358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63" name="Graphic 62" descr="Database with solid fill">
            <a:extLst>
              <a:ext uri="{FF2B5EF4-FFF2-40B4-BE49-F238E27FC236}">
                <a16:creationId xmlns:a16="http://schemas.microsoft.com/office/drawing/2014/main" id="{E9120CA6-27C2-10E5-C55A-D618AF4BE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3266" y="3655517"/>
            <a:ext cx="803025" cy="803025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216A8B8-66CB-4A9D-54EA-B15BA008B262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730924" y="4057030"/>
            <a:ext cx="916936" cy="0"/>
          </a:xfrm>
          <a:prstGeom prst="straightConnector1">
            <a:avLst/>
          </a:prstGeom>
          <a:ln>
            <a:solidFill>
              <a:srgbClr val="163E64"/>
            </a:solidFill>
            <a:headEnd type="triangl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3168CE4-87A6-4EF4-C9F6-2FDAEF71728E}"/>
              </a:ext>
            </a:extLst>
          </p:cNvPr>
          <p:cNvCxnSpPr>
            <a:cxnSpLocks/>
            <a:stCxn id="9" idx="3"/>
            <a:endCxn id="29" idx="3"/>
          </p:cNvCxnSpPr>
          <p:nvPr/>
        </p:nvCxnSpPr>
        <p:spPr>
          <a:xfrm flipH="1">
            <a:off x="8789355" y="4057030"/>
            <a:ext cx="804739" cy="0"/>
          </a:xfrm>
          <a:prstGeom prst="straightConnector1">
            <a:avLst/>
          </a:prstGeom>
          <a:ln>
            <a:solidFill>
              <a:srgbClr val="163E64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D62EE1A-3765-F34A-6DEF-18C315A09402}"/>
              </a:ext>
            </a:extLst>
          </p:cNvPr>
          <p:cNvSpPr txBox="1"/>
          <p:nvPr/>
        </p:nvSpPr>
        <p:spPr>
          <a:xfrm>
            <a:off x="5609008" y="1838422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>
                <a:solidFill>
                  <a:schemeClr val="accent2">
                    <a:lumMod val="75000"/>
                  </a:schemeClr>
                </a:solidFill>
              </a:rPr>
              <a:t>Léon</a:t>
            </a:r>
            <a:br>
              <a:rPr lang="en-FR" sz="10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FR" sz="800">
                <a:solidFill>
                  <a:schemeClr val="accent2">
                    <a:lumMod val="75000"/>
                  </a:schemeClr>
                </a:solidFill>
              </a:rPr>
              <a:t>MLOps Lead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35FE73-5CEE-0780-9B9A-11829C4F19E2}"/>
              </a:ext>
            </a:extLst>
          </p:cNvPr>
          <p:cNvSpPr txBox="1"/>
          <p:nvPr/>
        </p:nvSpPr>
        <p:spPr>
          <a:xfrm>
            <a:off x="10141122" y="3810807"/>
            <a:ext cx="10866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rgbClr val="163E64"/>
                </a:solidFill>
              </a:rPr>
              <a:t>Julie</a:t>
            </a:r>
            <a:br>
              <a:rPr lang="en-FR" sz="1000" dirty="0">
                <a:solidFill>
                  <a:srgbClr val="163E64"/>
                </a:solidFill>
              </a:rPr>
            </a:br>
            <a:r>
              <a:rPr lang="en-FR" sz="800" dirty="0">
                <a:solidFill>
                  <a:srgbClr val="163E64"/>
                </a:solidFill>
              </a:rPr>
              <a:t>Analyste à la sécurité routière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E0B83D-2CE3-8FB2-6E60-9EF083400FA9}"/>
              </a:ext>
            </a:extLst>
          </p:cNvPr>
          <p:cNvSpPr txBox="1"/>
          <p:nvPr/>
        </p:nvSpPr>
        <p:spPr>
          <a:xfrm>
            <a:off x="1695250" y="4370959"/>
            <a:ext cx="1279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800" dirty="0">
                <a:solidFill>
                  <a:schemeClr val="accent1"/>
                </a:solidFill>
              </a:rPr>
              <a:t>Données de la sécuritée routière sur gouv.fr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E38A89-2957-1288-1B58-D0509652241F}"/>
              </a:ext>
            </a:extLst>
          </p:cNvPr>
          <p:cNvSpPr txBox="1"/>
          <p:nvPr/>
        </p:nvSpPr>
        <p:spPr>
          <a:xfrm rot="1963843">
            <a:off x="2578361" y="2603806"/>
            <a:ext cx="662365" cy="473549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83498"/>
              </a:avLst>
            </a:prstTxWarp>
            <a:spAutoFit/>
          </a:bodyPr>
          <a:lstStyle/>
          <a:p>
            <a:pPr algn="ctr"/>
            <a:r>
              <a:rPr lang="en-FR" sz="1000" b="1" dirty="0">
                <a:solidFill>
                  <a:schemeClr val="accent5">
                    <a:lumMod val="75000"/>
                  </a:schemeClr>
                </a:solidFill>
              </a:rPr>
              <a:t>https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17F79E-F134-5EA6-B5AD-F73BAFB0BE25}"/>
              </a:ext>
            </a:extLst>
          </p:cNvPr>
          <p:cNvSpPr txBox="1"/>
          <p:nvPr/>
        </p:nvSpPr>
        <p:spPr>
          <a:xfrm>
            <a:off x="8875963" y="3844852"/>
            <a:ext cx="713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solidFill>
                  <a:srgbClr val="163E64"/>
                </a:solidFill>
              </a:rPr>
              <a:t>https</a:t>
            </a:r>
            <a:endParaRPr lang="en-FR" sz="1000" b="1" dirty="0">
              <a:solidFill>
                <a:srgbClr val="163E64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97725FE-63AD-4FD1-ABFB-A4A552DD800E}"/>
              </a:ext>
            </a:extLst>
          </p:cNvPr>
          <p:cNvSpPr/>
          <p:nvPr/>
        </p:nvSpPr>
        <p:spPr>
          <a:xfrm>
            <a:off x="1750915" y="2553284"/>
            <a:ext cx="224590" cy="22459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 dirty="0"/>
              <a:t>2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D0AF097-1964-8E04-4852-F89458AEADEB}"/>
              </a:ext>
            </a:extLst>
          </p:cNvPr>
          <p:cNvSpPr/>
          <p:nvPr/>
        </p:nvSpPr>
        <p:spPr>
          <a:xfrm>
            <a:off x="1750915" y="5359343"/>
            <a:ext cx="224590" cy="22459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 dirty="0"/>
              <a:t>3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530D85E-3462-5AA9-2F99-CEE62FF3C45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22690" r="23838"/>
          <a:stretch>
            <a:fillRect/>
          </a:stretch>
        </p:blipFill>
        <p:spPr>
          <a:xfrm>
            <a:off x="1938633" y="2263848"/>
            <a:ext cx="792291" cy="69165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DE4C9D2-B00E-4723-607E-46898DF014A1}"/>
              </a:ext>
            </a:extLst>
          </p:cNvPr>
          <p:cNvSpPr txBox="1"/>
          <p:nvPr/>
        </p:nvSpPr>
        <p:spPr>
          <a:xfrm>
            <a:off x="1725179" y="2931434"/>
            <a:ext cx="1219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chemeClr val="accent5">
                    <a:lumMod val="75000"/>
                  </a:schemeClr>
                </a:solidFill>
              </a:rPr>
              <a:t>Elon</a:t>
            </a:r>
            <a:br>
              <a:rPr lang="en-FR" sz="1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FR" sz="1000" dirty="0">
                <a:solidFill>
                  <a:schemeClr val="accent5">
                    <a:lumMod val="75000"/>
                  </a:schemeClr>
                </a:solidFill>
              </a:rPr>
              <a:t>Ingénieur </a:t>
            </a:r>
            <a:r>
              <a:rPr lang="en-FR" sz="800" dirty="0">
                <a:solidFill>
                  <a:schemeClr val="accent5">
                    <a:lumMod val="75000"/>
                  </a:schemeClr>
                </a:solidFill>
              </a:rPr>
              <a:t>MLOps 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EBBAF5D1-0518-3097-CE4F-3F0E484CF7D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>
          <a:xfrm flipH="1">
            <a:off x="1975625" y="5173893"/>
            <a:ext cx="718306" cy="691650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82D80BCC-73A5-DA1D-6B77-B9006ED59C1B}"/>
              </a:ext>
            </a:extLst>
          </p:cNvPr>
          <p:cNvSpPr txBox="1"/>
          <p:nvPr/>
        </p:nvSpPr>
        <p:spPr>
          <a:xfrm>
            <a:off x="1725179" y="5817416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algn="ctr">
              <a:defRPr sz="1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FR" dirty="0"/>
              <a:t>Lucie</a:t>
            </a:r>
            <a:br>
              <a:rPr lang="en-FR" dirty="0"/>
            </a:br>
            <a:r>
              <a:rPr lang="en-FR" dirty="0"/>
              <a:t>Data Scientist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F5B9FF6-E2E4-1AB1-49E5-05404FA6C159}"/>
              </a:ext>
            </a:extLst>
          </p:cNvPr>
          <p:cNvSpPr txBox="1"/>
          <p:nvPr/>
        </p:nvSpPr>
        <p:spPr>
          <a:xfrm>
            <a:off x="764167" y="3851804"/>
            <a:ext cx="95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rgbClr val="163E64"/>
                </a:solidFill>
              </a:rPr>
              <a:t>Trigger nouvelles données</a:t>
            </a:r>
            <a:endParaRPr lang="en-FR" sz="800" baseline="30000" dirty="0">
              <a:solidFill>
                <a:srgbClr val="163E64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9AFE699-DEE0-B097-7343-E60D016264DD}"/>
              </a:ext>
            </a:extLst>
          </p:cNvPr>
          <p:cNvSpPr txBox="1"/>
          <p:nvPr/>
        </p:nvSpPr>
        <p:spPr>
          <a:xfrm>
            <a:off x="624054" y="5302361"/>
            <a:ext cx="1096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chemeClr val="accent5">
                    <a:lumMod val="75000"/>
                  </a:schemeClr>
                </a:solidFill>
              </a:rPr>
              <a:t>Trigger nouveau modèle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28235DB-D369-DFAF-E1FE-36DC52AC3685}"/>
              </a:ext>
            </a:extLst>
          </p:cNvPr>
          <p:cNvSpPr txBox="1"/>
          <p:nvPr/>
        </p:nvSpPr>
        <p:spPr>
          <a:xfrm>
            <a:off x="764167" y="2502027"/>
            <a:ext cx="95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FR" sz="800" dirty="0">
                <a:solidFill>
                  <a:schemeClr val="accent5">
                    <a:lumMod val="75000"/>
                  </a:schemeClr>
                </a:solidFill>
              </a:rPr>
              <a:t>Trigger nouveau code</a:t>
            </a:r>
            <a:endParaRPr lang="en-FR" sz="800" baseline="30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Picture 1" descr="Discover Kia India's iMT Range – Smart Clutch-Free Manual Transmission Cars">
            <a:extLst>
              <a:ext uri="{FF2B5EF4-FFF2-40B4-BE49-F238E27FC236}">
                <a16:creationId xmlns:a16="http://schemas.microsoft.com/office/drawing/2014/main" id="{FE235758-8673-8630-5181-45E412E409A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31505" y="3580958"/>
            <a:ext cx="960240" cy="96024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4B370E-87DD-0310-E3AD-0F8A55BBA902}"/>
              </a:ext>
            </a:extLst>
          </p:cNvPr>
          <p:cNvSpPr/>
          <p:nvPr/>
        </p:nvSpPr>
        <p:spPr>
          <a:xfrm>
            <a:off x="3857829" y="3563831"/>
            <a:ext cx="2194544" cy="986397"/>
          </a:xfrm>
          <a:prstGeom prst="roundRect">
            <a:avLst>
              <a:gd name="adj" fmla="val 4685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216000" bIns="0" rtlCol="0" anchor="t"/>
          <a:lstStyle/>
          <a:p>
            <a:pPr algn="r"/>
            <a:r>
              <a:rPr lang="en-FR" b="1" dirty="0">
                <a:solidFill>
                  <a:schemeClr val="bg1">
                    <a:lumMod val="65000"/>
                  </a:schemeClr>
                </a:solidFill>
              </a:rPr>
              <a:t>VPS</a:t>
            </a:r>
          </a:p>
        </p:txBody>
      </p:sp>
      <p:pic>
        <p:nvPicPr>
          <p:cNvPr id="8" name="Picture 7" descr="Discover Kia India's iMT Range – Smart Clutch-Free Manual Transmission Cars">
            <a:extLst>
              <a:ext uri="{FF2B5EF4-FFF2-40B4-BE49-F238E27FC236}">
                <a16:creationId xmlns:a16="http://schemas.microsoft.com/office/drawing/2014/main" id="{C3E332A1-0464-2126-C52C-7F609715381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5611" y="3591435"/>
            <a:ext cx="960240" cy="96024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424DDE-3423-DA03-0EFD-982CF7C7FE58}"/>
              </a:ext>
            </a:extLst>
          </p:cNvPr>
          <p:cNvSpPr/>
          <p:nvPr/>
        </p:nvSpPr>
        <p:spPr>
          <a:xfrm>
            <a:off x="6338853" y="3563831"/>
            <a:ext cx="2264816" cy="986397"/>
          </a:xfrm>
          <a:prstGeom prst="roundRect">
            <a:avLst>
              <a:gd name="adj" fmla="val 4685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216000" bIns="0" rtlCol="0" anchor="t"/>
          <a:lstStyle/>
          <a:p>
            <a:pPr algn="r"/>
            <a:r>
              <a:rPr lang="en-FR" b="1" dirty="0">
                <a:solidFill>
                  <a:schemeClr val="bg1">
                    <a:lumMod val="65000"/>
                  </a:schemeClr>
                </a:solidFill>
              </a:rPr>
              <a:t>K8S</a:t>
            </a:r>
          </a:p>
        </p:txBody>
      </p:sp>
      <p:pic>
        <p:nvPicPr>
          <p:cNvPr id="5122" name="Picture 2" descr="EKM Insight API">
            <a:extLst>
              <a:ext uri="{FF2B5EF4-FFF2-40B4-BE49-F238E27FC236}">
                <a16:creationId xmlns:a16="http://schemas.microsoft.com/office/drawing/2014/main" id="{7C9C1378-20A5-0B50-6A98-6F13C672A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491" y="2300285"/>
            <a:ext cx="782247" cy="521498"/>
          </a:xfrm>
          <a:prstGeom prst="rect">
            <a:avLst/>
          </a:prstGeom>
          <a:noFill/>
          <a:effectLst>
            <a:glow rad="228600">
              <a:srgbClr val="C2DBE4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96D85187-D7C7-F756-CCBD-70AC40B5EC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39785" y="2587633"/>
            <a:ext cx="1304300" cy="831047"/>
          </a:xfrm>
          <a:prstGeom prst="curvedConnector2">
            <a:avLst/>
          </a:prstGeom>
          <a:ln>
            <a:solidFill>
              <a:srgbClr val="163E64"/>
            </a:solidFill>
            <a:prstDash val="sysDash"/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C29C3FD-20D2-DC99-06E4-8860F69B38B7}"/>
              </a:ext>
            </a:extLst>
          </p:cNvPr>
          <p:cNvSpPr/>
          <p:nvPr/>
        </p:nvSpPr>
        <p:spPr>
          <a:xfrm>
            <a:off x="8154845" y="3392081"/>
            <a:ext cx="200692" cy="216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25E9A5-DBE1-8E54-AF16-48D6A39B2534}"/>
              </a:ext>
            </a:extLst>
          </p:cNvPr>
          <p:cNvSpPr txBox="1"/>
          <p:nvPr/>
        </p:nvSpPr>
        <p:spPr>
          <a:xfrm>
            <a:off x="10096694" y="2387578"/>
            <a:ext cx="1086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rgbClr val="163E64"/>
                </a:solidFill>
              </a:rPr>
              <a:t>API</a:t>
            </a:r>
            <a:br>
              <a:rPr lang="en-FR" sz="1000" b="1" dirty="0">
                <a:solidFill>
                  <a:srgbClr val="163E64"/>
                </a:solidFill>
              </a:rPr>
            </a:br>
            <a:r>
              <a:rPr lang="en-FR" sz="1000" b="1" dirty="0">
                <a:solidFill>
                  <a:srgbClr val="163E64"/>
                </a:solidFill>
              </a:rPr>
              <a:t>externes</a:t>
            </a:r>
            <a:endParaRPr lang="en-FR" sz="800" dirty="0">
              <a:solidFill>
                <a:srgbClr val="163E64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A6B042-10E2-2CDE-2F7E-8F2A5193AFD7}"/>
              </a:ext>
            </a:extLst>
          </p:cNvPr>
          <p:cNvCxnSpPr>
            <a:cxnSpLocks/>
            <a:stCxn id="6" idx="2"/>
            <a:endCxn id="29" idx="0"/>
          </p:cNvCxnSpPr>
          <p:nvPr/>
        </p:nvCxnSpPr>
        <p:spPr>
          <a:xfrm>
            <a:off x="6218607" y="3011195"/>
            <a:ext cx="1" cy="36364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E64F09-BDFE-0F29-823A-FCC77CBFB5F8}"/>
              </a:ext>
            </a:extLst>
          </p:cNvPr>
          <p:cNvSpPr txBox="1"/>
          <p:nvPr/>
        </p:nvSpPr>
        <p:spPr>
          <a:xfrm>
            <a:off x="5184348" y="3064425"/>
            <a:ext cx="1109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000" b="1" dirty="0">
                <a:solidFill>
                  <a:schemeClr val="accent2">
                    <a:lumMod val="75000"/>
                  </a:schemeClr>
                </a:solidFill>
              </a:rPr>
              <a:t>VPN, Tailscale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E597FB-EC7F-90C3-B733-975ABC1710B3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6052373" y="4057030"/>
            <a:ext cx="28648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08121E9-84AC-AC2D-9543-57515584B53D}"/>
              </a:ext>
            </a:extLst>
          </p:cNvPr>
          <p:cNvSpPr txBox="1"/>
          <p:nvPr/>
        </p:nvSpPr>
        <p:spPr>
          <a:xfrm rot="19839986">
            <a:off x="8398241" y="2789965"/>
            <a:ext cx="1601429" cy="122901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290464"/>
              </a:avLst>
            </a:prstTxWarp>
            <a:spAutoFit/>
          </a:bodyPr>
          <a:lstStyle/>
          <a:p>
            <a:pPr algn="ctr"/>
            <a:r>
              <a:rPr lang="en-FR" sz="1000" b="1" dirty="0">
                <a:solidFill>
                  <a:srgbClr val="163E64"/>
                </a:solidFill>
              </a:rPr>
              <a:t>https</a:t>
            </a:r>
          </a:p>
          <a:p>
            <a:pPr algn="ctr"/>
            <a:r>
              <a:rPr lang="en-FR" sz="1000" dirty="0">
                <a:solidFill>
                  <a:srgbClr val="163E64"/>
                </a:solidFill>
              </a:rPr>
              <a:t>(JWT &amp; rate limit)</a:t>
            </a:r>
          </a:p>
        </p:txBody>
      </p:sp>
      <p:sp>
        <p:nvSpPr>
          <p:cNvPr id="61" name="Rounded Rectangle 60">
            <a:hlinkClick r:id="rId11"/>
            <a:extLst>
              <a:ext uri="{FF2B5EF4-FFF2-40B4-BE49-F238E27FC236}">
                <a16:creationId xmlns:a16="http://schemas.microsoft.com/office/drawing/2014/main" id="{1BEBEB70-83EF-93A6-08A1-EE915F0E759B}"/>
              </a:ext>
            </a:extLst>
          </p:cNvPr>
          <p:cNvSpPr/>
          <p:nvPr/>
        </p:nvSpPr>
        <p:spPr>
          <a:xfrm>
            <a:off x="5523497" y="3970998"/>
            <a:ext cx="360000" cy="118800"/>
          </a:xfrm>
          <a:prstGeom prst="round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API</a:t>
            </a:r>
          </a:p>
        </p:txBody>
      </p:sp>
      <p:sp>
        <p:nvSpPr>
          <p:cNvPr id="62" name="Rounded Rectangle 61">
            <a:hlinkClick r:id="rId11"/>
            <a:extLst>
              <a:ext uri="{FF2B5EF4-FFF2-40B4-BE49-F238E27FC236}">
                <a16:creationId xmlns:a16="http://schemas.microsoft.com/office/drawing/2014/main" id="{61C99046-F606-4C79-C7EF-156C51B49516}"/>
              </a:ext>
            </a:extLst>
          </p:cNvPr>
          <p:cNvSpPr/>
          <p:nvPr/>
        </p:nvSpPr>
        <p:spPr>
          <a:xfrm>
            <a:off x="5110004" y="3967962"/>
            <a:ext cx="360000" cy="118800"/>
          </a:xfrm>
          <a:prstGeom prst="round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Public</a:t>
            </a:r>
          </a:p>
        </p:txBody>
      </p:sp>
      <p:sp>
        <p:nvSpPr>
          <p:cNvPr id="64" name="Rounded Rectangle 63">
            <a:hlinkClick r:id="rId11"/>
            <a:extLst>
              <a:ext uri="{FF2B5EF4-FFF2-40B4-BE49-F238E27FC236}">
                <a16:creationId xmlns:a16="http://schemas.microsoft.com/office/drawing/2014/main" id="{D0127EB5-3A93-E5F4-1BD1-EA05214FA41B}"/>
              </a:ext>
            </a:extLst>
          </p:cNvPr>
          <p:cNvSpPr/>
          <p:nvPr/>
        </p:nvSpPr>
        <p:spPr>
          <a:xfrm>
            <a:off x="5318426" y="3641495"/>
            <a:ext cx="360000" cy="1188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Admin</a:t>
            </a:r>
          </a:p>
        </p:txBody>
      </p:sp>
      <p:sp>
        <p:nvSpPr>
          <p:cNvPr id="65" name="Rounded Rectangle 64">
            <a:hlinkClick r:id="rId11"/>
            <a:extLst>
              <a:ext uri="{FF2B5EF4-FFF2-40B4-BE49-F238E27FC236}">
                <a16:creationId xmlns:a16="http://schemas.microsoft.com/office/drawing/2014/main" id="{1512CDED-402C-8C3A-5A82-B81085C56B40}"/>
              </a:ext>
            </a:extLst>
          </p:cNvPr>
          <p:cNvSpPr/>
          <p:nvPr/>
        </p:nvSpPr>
        <p:spPr>
          <a:xfrm>
            <a:off x="8051794" y="3967962"/>
            <a:ext cx="360000" cy="118800"/>
          </a:xfrm>
          <a:prstGeom prst="round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API</a:t>
            </a:r>
          </a:p>
        </p:txBody>
      </p:sp>
      <p:sp>
        <p:nvSpPr>
          <p:cNvPr id="66" name="Rounded Rectangle 65">
            <a:hlinkClick r:id="rId11"/>
            <a:extLst>
              <a:ext uri="{FF2B5EF4-FFF2-40B4-BE49-F238E27FC236}">
                <a16:creationId xmlns:a16="http://schemas.microsoft.com/office/drawing/2014/main" id="{0651B38D-12D5-77A6-DB67-6524FFCDAF4F}"/>
              </a:ext>
            </a:extLst>
          </p:cNvPr>
          <p:cNvSpPr/>
          <p:nvPr/>
        </p:nvSpPr>
        <p:spPr>
          <a:xfrm>
            <a:off x="7638301" y="3964926"/>
            <a:ext cx="360000" cy="118800"/>
          </a:xfrm>
          <a:prstGeom prst="round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FR" sz="800" dirty="0">
                <a:solidFill>
                  <a:schemeClr val="bg1"/>
                </a:solidFill>
              </a:rPr>
              <a:t>Public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024724-7545-4BF9-54C4-6305D3B3108C}"/>
              </a:ext>
            </a:extLst>
          </p:cNvPr>
          <p:cNvSpPr txBox="1"/>
          <p:nvPr/>
        </p:nvSpPr>
        <p:spPr>
          <a:xfrm>
            <a:off x="9031016" y="6170402"/>
            <a:ext cx="2337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000" dirty="0"/>
              <a:t>Accès https aux  Gradio et API publics</a:t>
            </a:r>
          </a:p>
        </p:txBody>
      </p:sp>
      <p:sp>
        <p:nvSpPr>
          <p:cNvPr id="69" name="Rounded Rectangle 68">
            <a:hlinkClick r:id="rId11"/>
            <a:extLst>
              <a:ext uri="{FF2B5EF4-FFF2-40B4-BE49-F238E27FC236}">
                <a16:creationId xmlns:a16="http://schemas.microsoft.com/office/drawing/2014/main" id="{11C378FD-25FB-5D47-8972-064D55F9A068}"/>
              </a:ext>
            </a:extLst>
          </p:cNvPr>
          <p:cNvSpPr/>
          <p:nvPr/>
        </p:nvSpPr>
        <p:spPr>
          <a:xfrm>
            <a:off x="8904177" y="6236901"/>
            <a:ext cx="144000" cy="144000"/>
          </a:xfrm>
          <a:prstGeom prst="round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800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6B3808-3824-4970-7788-E33A297D538F}"/>
              </a:ext>
            </a:extLst>
          </p:cNvPr>
          <p:cNvSpPr txBox="1"/>
          <p:nvPr/>
        </p:nvSpPr>
        <p:spPr>
          <a:xfrm>
            <a:off x="9031016" y="6406669"/>
            <a:ext cx="294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000" dirty="0"/>
              <a:t>Accès via VPN Tailscale au cockpit et outils admin</a:t>
            </a:r>
          </a:p>
          <a:p>
            <a:r>
              <a:rPr lang="en-FR" sz="800" dirty="0"/>
              <a:t>(ex : Grafana, Prefect, MFFlow)</a:t>
            </a:r>
          </a:p>
        </p:txBody>
      </p:sp>
      <p:sp>
        <p:nvSpPr>
          <p:cNvPr id="73" name="Rounded Rectangle 72">
            <a:hlinkClick r:id="rId11"/>
            <a:extLst>
              <a:ext uri="{FF2B5EF4-FFF2-40B4-BE49-F238E27FC236}">
                <a16:creationId xmlns:a16="http://schemas.microsoft.com/office/drawing/2014/main" id="{6B545A72-91D0-132D-CAF1-D117F08A616A}"/>
              </a:ext>
            </a:extLst>
          </p:cNvPr>
          <p:cNvSpPr/>
          <p:nvPr/>
        </p:nvSpPr>
        <p:spPr>
          <a:xfrm>
            <a:off x="8904177" y="6473168"/>
            <a:ext cx="144000" cy="144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800" dirty="0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A1644E2-3C99-EFC3-B22F-5BCE7E7DC4E1}"/>
              </a:ext>
            </a:extLst>
          </p:cNvPr>
          <p:cNvSpPr/>
          <p:nvPr/>
        </p:nvSpPr>
        <p:spPr>
          <a:xfrm>
            <a:off x="1750915" y="3918103"/>
            <a:ext cx="224590" cy="224590"/>
          </a:xfrm>
          <a:prstGeom prst="ellipse">
            <a:avLst/>
          </a:prstGeom>
          <a:solidFill>
            <a:srgbClr val="163E64"/>
          </a:solidFill>
          <a:ln>
            <a:solidFill>
              <a:srgbClr val="C2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200" b="1"/>
              <a:t>1</a:t>
            </a:r>
          </a:p>
        </p:txBody>
      </p:sp>
      <p:cxnSp>
        <p:nvCxnSpPr>
          <p:cNvPr id="80" name="Curved Connector 79">
            <a:extLst>
              <a:ext uri="{FF2B5EF4-FFF2-40B4-BE49-F238E27FC236}">
                <a16:creationId xmlns:a16="http://schemas.microsoft.com/office/drawing/2014/main" id="{601BAF78-A92B-8DF8-5712-B2416142F15A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3713157" y="3034399"/>
            <a:ext cx="798468" cy="546559"/>
          </a:xfrm>
          <a:prstGeom prst="curvedConnector2">
            <a:avLst/>
          </a:prstGeom>
          <a:ln>
            <a:solidFill>
              <a:schemeClr val="accent5">
                <a:lumMod val="75000"/>
              </a:schemeClr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D873105-36CB-D773-64B6-87DDF30EDE1C}"/>
              </a:ext>
            </a:extLst>
          </p:cNvPr>
          <p:cNvSpPr txBox="1"/>
          <p:nvPr/>
        </p:nvSpPr>
        <p:spPr>
          <a:xfrm rot="1662102">
            <a:off x="3656637" y="3193877"/>
            <a:ext cx="662365" cy="473549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83498"/>
              </a:avLst>
            </a:prstTxWarp>
            <a:spAutoFit/>
          </a:bodyPr>
          <a:lstStyle/>
          <a:p>
            <a:pPr algn="ctr"/>
            <a:r>
              <a:rPr lang="en-FR" sz="1000" b="1" dirty="0">
                <a:solidFill>
                  <a:schemeClr val="accent5">
                    <a:lumMod val="75000"/>
                  </a:schemeClr>
                </a:solidFill>
              </a:rPr>
              <a:t>SSH</a:t>
            </a:r>
          </a:p>
          <a:p>
            <a:pPr algn="ctr"/>
            <a:r>
              <a:rPr lang="en-FR" sz="800" dirty="0">
                <a:solidFill>
                  <a:schemeClr val="accent5">
                    <a:lumMod val="75000"/>
                  </a:schemeClr>
                </a:solidFill>
              </a:rPr>
              <a:t>(clé)</a:t>
            </a:r>
          </a:p>
        </p:txBody>
      </p:sp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238FAEEF-92DE-CBFE-2835-A43CB28736CD}"/>
              </a:ext>
            </a:extLst>
          </p:cNvPr>
          <p:cNvCxnSpPr>
            <a:cxnSpLocks/>
            <a:stCxn id="99" idx="1"/>
          </p:cNvCxnSpPr>
          <p:nvPr/>
        </p:nvCxnSpPr>
        <p:spPr>
          <a:xfrm flipV="1">
            <a:off x="2693931" y="5164621"/>
            <a:ext cx="676472" cy="355097"/>
          </a:xfrm>
          <a:prstGeom prst="curved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115">
            <a:extLst>
              <a:ext uri="{FF2B5EF4-FFF2-40B4-BE49-F238E27FC236}">
                <a16:creationId xmlns:a16="http://schemas.microsoft.com/office/drawing/2014/main" id="{F96F1082-6F3C-D3F6-4AF5-E462111DB0DF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3683865" y="4541198"/>
            <a:ext cx="827760" cy="623423"/>
          </a:xfrm>
          <a:prstGeom prst="curvedConnector2">
            <a:avLst/>
          </a:prstGeom>
          <a:ln>
            <a:solidFill>
              <a:schemeClr val="accent5">
                <a:lumMod val="75000"/>
              </a:schemeClr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>
            <a:hlinkClick r:id="rId11"/>
            <a:extLst>
              <a:ext uri="{FF2B5EF4-FFF2-40B4-BE49-F238E27FC236}">
                <a16:creationId xmlns:a16="http://schemas.microsoft.com/office/drawing/2014/main" id="{E34E7B86-33AF-B3CF-1049-1947012A1CA3}"/>
              </a:ext>
            </a:extLst>
          </p:cNvPr>
          <p:cNvSpPr/>
          <p:nvPr/>
        </p:nvSpPr>
        <p:spPr>
          <a:xfrm>
            <a:off x="8904177" y="5987652"/>
            <a:ext cx="144000" cy="144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800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2C22FC8-2E39-DB81-03B0-311B17213321}"/>
              </a:ext>
            </a:extLst>
          </p:cNvPr>
          <p:cNvSpPr txBox="1"/>
          <p:nvPr/>
        </p:nvSpPr>
        <p:spPr>
          <a:xfrm>
            <a:off x="9040751" y="5940527"/>
            <a:ext cx="18213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000" dirty="0"/>
              <a:t>Accès https et SSH via Github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5E72ED6-B1CC-C0C1-5553-6B45A1FC47FF}"/>
              </a:ext>
            </a:extLst>
          </p:cNvPr>
          <p:cNvSpPr txBox="1"/>
          <p:nvPr/>
        </p:nvSpPr>
        <p:spPr>
          <a:xfrm>
            <a:off x="2550828" y="3854125"/>
            <a:ext cx="1321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solidFill>
                  <a:srgbClr val="163E64"/>
                </a:solidFill>
              </a:rPr>
              <a:t>https</a:t>
            </a:r>
          </a:p>
          <a:p>
            <a:pPr algn="ctr"/>
            <a:r>
              <a:rPr lang="en-GB" sz="1000" dirty="0">
                <a:solidFill>
                  <a:srgbClr val="163E64"/>
                </a:solidFill>
              </a:rPr>
              <a:t>(</a:t>
            </a:r>
            <a:r>
              <a:rPr lang="en-GB" sz="800" dirty="0" err="1">
                <a:solidFill>
                  <a:srgbClr val="163E64"/>
                </a:solidFill>
              </a:rPr>
              <a:t>sortant</a:t>
            </a:r>
            <a:r>
              <a:rPr lang="en-GB" sz="800" dirty="0">
                <a:solidFill>
                  <a:srgbClr val="163E64"/>
                </a:solidFill>
              </a:rPr>
              <a:t> </a:t>
            </a:r>
            <a:r>
              <a:rPr lang="en-GB" sz="800" dirty="0" err="1">
                <a:solidFill>
                  <a:srgbClr val="163E64"/>
                </a:solidFill>
              </a:rPr>
              <a:t>en</a:t>
            </a:r>
            <a:endParaRPr lang="en-GB" sz="800" dirty="0">
              <a:solidFill>
                <a:srgbClr val="163E64"/>
              </a:solidFill>
            </a:endParaRPr>
          </a:p>
          <a:p>
            <a:pPr algn="ctr"/>
            <a:r>
              <a:rPr lang="en-GB" sz="800" dirty="0">
                <a:solidFill>
                  <a:srgbClr val="163E64"/>
                </a:solidFill>
              </a:rPr>
              <a:t>lecture </a:t>
            </a:r>
            <a:r>
              <a:rPr lang="en-GB" sz="800" dirty="0" err="1">
                <a:solidFill>
                  <a:srgbClr val="163E64"/>
                </a:solidFill>
              </a:rPr>
              <a:t>seule</a:t>
            </a:r>
            <a:r>
              <a:rPr lang="en-GB" sz="800" dirty="0">
                <a:solidFill>
                  <a:srgbClr val="163E64"/>
                </a:solidFill>
              </a:rPr>
              <a:t>)</a:t>
            </a:r>
            <a:endParaRPr lang="en-FR" sz="800" dirty="0">
              <a:solidFill>
                <a:srgbClr val="163E64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7276513-8521-E65B-6D9B-D59EDE0C8587}"/>
              </a:ext>
            </a:extLst>
          </p:cNvPr>
          <p:cNvSpPr txBox="1"/>
          <p:nvPr/>
        </p:nvSpPr>
        <p:spPr>
          <a:xfrm rot="19825442">
            <a:off x="2518290" y="5169108"/>
            <a:ext cx="687327" cy="41764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510011"/>
              </a:avLst>
            </a:prstTxWarp>
            <a:spAutoFit/>
          </a:bodyPr>
          <a:lstStyle/>
          <a:p>
            <a:pPr algn="ctr"/>
            <a:r>
              <a:rPr lang="en-FR" sz="1000" b="1" dirty="0">
                <a:solidFill>
                  <a:schemeClr val="accent5">
                    <a:lumMod val="75000"/>
                  </a:schemeClr>
                </a:solidFill>
              </a:rPr>
              <a:t>https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284F576-CB6D-4E04-498F-AFCFD91FBFB5}"/>
              </a:ext>
            </a:extLst>
          </p:cNvPr>
          <p:cNvSpPr txBox="1"/>
          <p:nvPr/>
        </p:nvSpPr>
        <p:spPr>
          <a:xfrm rot="19431249">
            <a:off x="3768727" y="4546980"/>
            <a:ext cx="687327" cy="41764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510011"/>
              </a:avLst>
            </a:prstTxWarp>
            <a:spAutoFit/>
          </a:bodyPr>
          <a:lstStyle/>
          <a:p>
            <a:pPr algn="ctr"/>
            <a:r>
              <a:rPr lang="en-FR" sz="1000" b="1" dirty="0">
                <a:solidFill>
                  <a:schemeClr val="accent5">
                    <a:lumMod val="75000"/>
                  </a:schemeClr>
                </a:solidFill>
              </a:rPr>
              <a:t>SSH</a:t>
            </a:r>
          </a:p>
          <a:p>
            <a:pPr algn="ctr"/>
            <a:r>
              <a:rPr lang="en-FR" sz="800" dirty="0">
                <a:solidFill>
                  <a:schemeClr val="accent5">
                    <a:lumMod val="75000"/>
                  </a:schemeClr>
                </a:solidFill>
              </a:rPr>
              <a:t>(clé)</a:t>
            </a:r>
          </a:p>
        </p:txBody>
      </p:sp>
      <p:pic>
        <p:nvPicPr>
          <p:cNvPr id="125" name="Picture 124" descr="GitHub Logo, symbol, meaning, history, PNG, brand">
            <a:extLst>
              <a:ext uri="{FF2B5EF4-FFF2-40B4-BE49-F238E27FC236}">
                <a16:creationId xmlns:a16="http://schemas.microsoft.com/office/drawing/2014/main" id="{11BE0534-482B-A68D-C7F8-E5CA3A530308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81008" y="2899223"/>
            <a:ext cx="710329" cy="399560"/>
          </a:xfrm>
          <a:prstGeom prst="rect">
            <a:avLst/>
          </a:prstGeom>
        </p:spPr>
      </p:pic>
      <p:pic>
        <p:nvPicPr>
          <p:cNvPr id="3" name="Picture 2" descr="GitHub Logo, symbol, meaning, history, PNG, brand">
            <a:extLst>
              <a:ext uri="{FF2B5EF4-FFF2-40B4-BE49-F238E27FC236}">
                <a16:creationId xmlns:a16="http://schemas.microsoft.com/office/drawing/2014/main" id="{0EB2B79C-89BC-9ACF-040A-474860D9261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58713" y="5026692"/>
            <a:ext cx="710329" cy="399560"/>
          </a:xfrm>
          <a:prstGeom prst="rect">
            <a:avLst/>
          </a:prstGeom>
        </p:spPr>
      </p:pic>
      <p:sp>
        <p:nvSpPr>
          <p:cNvPr id="15" name="Round Same-side Corner of Rectangle 14">
            <a:extLst>
              <a:ext uri="{FF2B5EF4-FFF2-40B4-BE49-F238E27FC236}">
                <a16:creationId xmlns:a16="http://schemas.microsoft.com/office/drawing/2014/main" id="{9CB4F756-904F-774C-1F84-1E2AF41E2BD9}"/>
              </a:ext>
            </a:extLst>
          </p:cNvPr>
          <p:cNvSpPr/>
          <p:nvPr/>
        </p:nvSpPr>
        <p:spPr>
          <a:xfrm rot="16200000">
            <a:off x="9860426" y="4537248"/>
            <a:ext cx="1139659" cy="3523489"/>
          </a:xfrm>
          <a:prstGeom prst="round2Same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23C02-E8D3-C6AF-63ED-4CE1D66256EF}"/>
              </a:ext>
            </a:extLst>
          </p:cNvPr>
          <p:cNvSpPr txBox="1"/>
          <p:nvPr/>
        </p:nvSpPr>
        <p:spPr>
          <a:xfrm>
            <a:off x="8894296" y="5587657"/>
            <a:ext cx="6903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FR" sz="12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289396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48148E-6 L -4.375E-6 -0.10301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5" grpId="1"/>
      <p:bldP spid="86" grpId="0"/>
      <p:bldP spid="86" grpId="1"/>
      <p:bldP spid="86" grpId="2"/>
      <p:bldP spid="91" grpId="0" animBg="1"/>
      <p:bldP spid="91" grpId="1" animBg="1"/>
      <p:bldP spid="91" grpId="2" animBg="1"/>
      <p:bldP spid="93" grpId="0" animBg="1"/>
      <p:bldP spid="98" grpId="0"/>
      <p:bldP spid="98" grpId="1"/>
      <p:bldP spid="98" grpId="2"/>
      <p:bldP spid="100" grpId="0"/>
      <p:bldP spid="102" grpId="0"/>
      <p:bldP spid="102" grpId="1"/>
      <p:bldP spid="102" grpId="2"/>
      <p:bldP spid="103" grpId="0"/>
      <p:bldP spid="104" grpId="0"/>
      <p:bldP spid="104" grpId="1"/>
      <p:bldP spid="104" grpId="2"/>
      <p:bldP spid="53" grpId="0"/>
      <p:bldP spid="60" grpId="0"/>
      <p:bldP spid="60" grpId="1"/>
      <p:bldP spid="60" grpId="2"/>
      <p:bldP spid="61" grpId="0" animBg="1"/>
      <p:bldP spid="62" grpId="0" animBg="1"/>
      <p:bldP spid="64" grpId="0" animBg="1"/>
      <p:bldP spid="65" grpId="0" animBg="1"/>
      <p:bldP spid="66" grpId="0" animBg="1"/>
      <p:bldP spid="69" grpId="0" animBg="1"/>
      <p:bldP spid="73" grpId="0" animBg="1"/>
      <p:bldP spid="74" grpId="0" animBg="1"/>
      <p:bldP spid="74" grpId="1" animBg="1"/>
      <p:bldP spid="109" grpId="0"/>
      <p:bldP spid="109" grpId="1"/>
      <p:bldP spid="109" grpId="2"/>
      <p:bldP spid="120" grpId="0" animBg="1"/>
      <p:bldP spid="123" grpId="0"/>
      <p:bldP spid="1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hlinkClick r:id="rId2" action="ppaction://hlinksldjump"/>
            <a:extLst>
              <a:ext uri="{FF2B5EF4-FFF2-40B4-BE49-F238E27FC236}">
                <a16:creationId xmlns:a16="http://schemas.microsoft.com/office/drawing/2014/main" id="{E382CC89-C091-2064-F1D1-FF935DAF6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37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2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hlinkClick r:id="rId2" action="ppaction://hlinksldjump"/>
            <a:extLst>
              <a:ext uri="{FF2B5EF4-FFF2-40B4-BE49-F238E27FC236}">
                <a16:creationId xmlns:a16="http://schemas.microsoft.com/office/drawing/2014/main" id="{07D8B04F-A879-23ED-866A-5F1AE4AB7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1430" cy="6858000"/>
          </a:xfrm>
          <a:prstGeom prst="rect">
            <a:avLst/>
          </a:prstGeom>
        </p:spPr>
      </p:pic>
      <p:sp>
        <p:nvSpPr>
          <p:cNvPr id="7" name="Rectangle 6">
            <a:hlinkClick r:id="rId4"/>
            <a:extLst>
              <a:ext uri="{FF2B5EF4-FFF2-40B4-BE49-F238E27FC236}">
                <a16:creationId xmlns:a16="http://schemas.microsoft.com/office/drawing/2014/main" id="{6FE19BE1-6530-C4C4-EA2C-9C194D9449D1}"/>
              </a:ext>
            </a:extLst>
          </p:cNvPr>
          <p:cNvSpPr/>
          <p:nvPr/>
        </p:nvSpPr>
        <p:spPr>
          <a:xfrm>
            <a:off x="391583" y="4140199"/>
            <a:ext cx="482600" cy="11853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Rectangle 7">
            <a:hlinkClick r:id="rId5"/>
            <a:extLst>
              <a:ext uri="{FF2B5EF4-FFF2-40B4-BE49-F238E27FC236}">
                <a16:creationId xmlns:a16="http://schemas.microsoft.com/office/drawing/2014/main" id="{B42C4C5C-D56A-0407-6D65-5ABFFD7A6349}"/>
              </a:ext>
            </a:extLst>
          </p:cNvPr>
          <p:cNvSpPr/>
          <p:nvPr/>
        </p:nvSpPr>
        <p:spPr>
          <a:xfrm>
            <a:off x="186267" y="4301067"/>
            <a:ext cx="410633" cy="11853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35295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hlinkClick r:id="rId2" action="ppaction://hlinksldjump"/>
            <a:extLst>
              <a:ext uri="{FF2B5EF4-FFF2-40B4-BE49-F238E27FC236}">
                <a16:creationId xmlns:a16="http://schemas.microsoft.com/office/drawing/2014/main" id="{C54FFBB3-387A-F791-DC65-72A297BB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15650" cy="6858000"/>
          </a:xfrm>
          <a:prstGeom prst="rect">
            <a:avLst/>
          </a:prstGeom>
        </p:spPr>
      </p:pic>
      <p:sp>
        <p:nvSpPr>
          <p:cNvPr id="9" name="Rectangle 8">
            <a:hlinkClick r:id="rId4"/>
            <a:extLst>
              <a:ext uri="{FF2B5EF4-FFF2-40B4-BE49-F238E27FC236}">
                <a16:creationId xmlns:a16="http://schemas.microsoft.com/office/drawing/2014/main" id="{490AC77B-359D-D91C-D7DB-530B3BDCA62F}"/>
              </a:ext>
            </a:extLst>
          </p:cNvPr>
          <p:cNvSpPr/>
          <p:nvPr/>
        </p:nvSpPr>
        <p:spPr>
          <a:xfrm>
            <a:off x="260354" y="4851400"/>
            <a:ext cx="416979" cy="11853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Rectangle 9">
            <a:hlinkClick r:id="rId5"/>
            <a:extLst>
              <a:ext uri="{FF2B5EF4-FFF2-40B4-BE49-F238E27FC236}">
                <a16:creationId xmlns:a16="http://schemas.microsoft.com/office/drawing/2014/main" id="{1042F116-8275-1172-C120-DE9D5AE90C32}"/>
              </a:ext>
            </a:extLst>
          </p:cNvPr>
          <p:cNvSpPr/>
          <p:nvPr/>
        </p:nvSpPr>
        <p:spPr>
          <a:xfrm>
            <a:off x="86786" y="4969933"/>
            <a:ext cx="328082" cy="11853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8733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6C23-6C34-38E3-5966-4221C2A0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C75D05F5-4FF7-F506-3E67-569F520DD3F2}"/>
              </a:ext>
            </a:extLst>
          </p:cNvPr>
          <p:cNvSpPr/>
          <p:nvPr/>
        </p:nvSpPr>
        <p:spPr>
          <a:xfrm>
            <a:off x="0" y="-9023"/>
            <a:ext cx="12192000" cy="1271752"/>
          </a:xfrm>
          <a:prstGeom prst="rect">
            <a:avLst/>
          </a:prstGeom>
          <a:solidFill>
            <a:srgbClr val="C2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D6C832-C509-F456-EC12-7423FB29EF77}"/>
              </a:ext>
            </a:extLst>
          </p:cNvPr>
          <p:cNvSpPr txBox="1"/>
          <p:nvPr/>
        </p:nvSpPr>
        <p:spPr>
          <a:xfrm>
            <a:off x="0" y="440357"/>
            <a:ext cx="9590049" cy="461665"/>
          </a:xfrm>
          <a:prstGeom prst="rect">
            <a:avLst/>
          </a:prstGeom>
          <a:noFill/>
        </p:spPr>
        <p:txBody>
          <a:bodyPr wrap="square" lIns="288000">
            <a:spAutoFit/>
          </a:bodyPr>
          <a:lstStyle/>
          <a:p>
            <a:r>
              <a:rPr lang="en-FR" sz="2400" b="1" dirty="0">
                <a:solidFill>
                  <a:srgbClr val="156082"/>
                </a:solidFill>
              </a:rPr>
              <a:t>Alertes &amp; Logs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2A56FB-601D-6FAA-5A07-EF368B6894CA}"/>
              </a:ext>
            </a:extLst>
          </p:cNvPr>
          <p:cNvSpPr/>
          <p:nvPr/>
        </p:nvSpPr>
        <p:spPr>
          <a:xfrm>
            <a:off x="399119" y="1418948"/>
            <a:ext cx="2453543" cy="7260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Sources de métriques</a:t>
            </a:r>
          </a:p>
          <a:p>
            <a:pPr algn="ctr"/>
            <a:r>
              <a:rPr lang="fr-FR" sz="1000" noProof="0" dirty="0">
                <a:solidFill>
                  <a:schemeClr val="bg1"/>
                </a:solidFill>
              </a:rPr>
              <a:t>api, nginx-exporter, </a:t>
            </a:r>
            <a:r>
              <a:rPr lang="fr-FR" sz="1000" dirty="0">
                <a:solidFill>
                  <a:schemeClr val="bg1"/>
                </a:solidFill>
              </a:rPr>
              <a:t>n</a:t>
            </a:r>
            <a:r>
              <a:rPr lang="fr-FR" sz="1000" noProof="0" dirty="0">
                <a:solidFill>
                  <a:schemeClr val="bg1"/>
                </a:solidFill>
              </a:rPr>
              <a:t>ode-exporter</a:t>
            </a:r>
            <a:endParaRPr lang="fr-FR" sz="1000" b="1" noProof="0" dirty="0">
              <a:solidFill>
                <a:schemeClr val="bg1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E164AA-B451-B03F-C60A-472731D3E697}"/>
              </a:ext>
            </a:extLst>
          </p:cNvPr>
          <p:cNvSpPr/>
          <p:nvPr/>
        </p:nvSpPr>
        <p:spPr>
          <a:xfrm>
            <a:off x="3046583" y="1429466"/>
            <a:ext cx="2362739" cy="7260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Sources de logs</a:t>
            </a:r>
            <a:endParaRPr lang="fr-FR" sz="1200" noProof="0" dirty="0">
              <a:solidFill>
                <a:schemeClr val="bg1"/>
              </a:solidFill>
            </a:endParaRPr>
          </a:p>
          <a:p>
            <a:pPr algn="ctr"/>
            <a:r>
              <a:rPr lang="fr-FR" sz="1000" noProof="0" dirty="0">
                <a:solidFill>
                  <a:schemeClr val="bg1"/>
                </a:solidFill>
              </a:rPr>
              <a:t>Logs stdout/</a:t>
            </a:r>
            <a:r>
              <a:rPr lang="fr-FR" sz="1000" noProof="0" dirty="0" err="1">
                <a:solidFill>
                  <a:schemeClr val="bg1"/>
                </a:solidFill>
              </a:rPr>
              <a:t>stderr</a:t>
            </a:r>
            <a:r>
              <a:rPr lang="fr-FR" sz="1000" noProof="0" dirty="0">
                <a:solidFill>
                  <a:schemeClr val="bg1"/>
                </a:solidFill>
              </a:rPr>
              <a:t> de tous les containers</a:t>
            </a:r>
            <a:endParaRPr lang="fr-FR" sz="800" noProof="0" dirty="0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76566E7-A7B8-81C5-42BC-8867045ED7A2}"/>
              </a:ext>
            </a:extLst>
          </p:cNvPr>
          <p:cNvSpPr/>
          <p:nvPr/>
        </p:nvSpPr>
        <p:spPr>
          <a:xfrm>
            <a:off x="399119" y="3115895"/>
            <a:ext cx="2453537" cy="7180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Prometheus</a:t>
            </a:r>
          </a:p>
          <a:p>
            <a:pPr algn="ctr"/>
            <a:r>
              <a:rPr lang="fr-FR" sz="1000" noProof="0" dirty="0">
                <a:solidFill>
                  <a:schemeClr val="bg1"/>
                </a:solidFill>
              </a:rPr>
              <a:t>Collecte de métriques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A557E1-2EEC-5916-1413-394E9D59C99E}"/>
              </a:ext>
            </a:extLst>
          </p:cNvPr>
          <p:cNvSpPr/>
          <p:nvPr/>
        </p:nvSpPr>
        <p:spPr>
          <a:xfrm>
            <a:off x="3745618" y="4454758"/>
            <a:ext cx="4700764" cy="7180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Loki – Log centralisée</a:t>
            </a:r>
          </a:p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Décisions de gate (GO/STOP), interruptions de service, rollbacks, erreurs applicatives.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C8C08F-2B40-F89B-EDFE-B270C02C02CB}"/>
              </a:ext>
            </a:extLst>
          </p:cNvPr>
          <p:cNvSpPr/>
          <p:nvPr/>
        </p:nvSpPr>
        <p:spPr>
          <a:xfrm>
            <a:off x="3745618" y="5660055"/>
            <a:ext cx="4700763" cy="6935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bg1"/>
                </a:solidFill>
              </a:rPr>
              <a:t>Grafana – Visualisation centralisée</a:t>
            </a:r>
          </a:p>
          <a:p>
            <a:pPr algn="ctr"/>
            <a:r>
              <a:rPr lang="fr-FR" sz="800" noProof="0" dirty="0">
                <a:solidFill>
                  <a:schemeClr val="bg1"/>
                </a:solidFill>
              </a:rPr>
              <a:t>Unique source d'alerte et de visualisation de la solution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263D746-5D95-7B75-3B16-CEB1C643570D}"/>
              </a:ext>
            </a:extLst>
          </p:cNvPr>
          <p:cNvSpPr txBox="1"/>
          <p:nvPr/>
        </p:nvSpPr>
        <p:spPr>
          <a:xfrm>
            <a:off x="4549742" y="5283638"/>
            <a:ext cx="9604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Annotation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F4C58A-1B8D-3703-0EFF-4174DD8A1635}"/>
              </a:ext>
            </a:extLst>
          </p:cNvPr>
          <p:cNvCxnSpPr>
            <a:cxnSpLocks/>
          </p:cNvCxnSpPr>
          <p:nvPr/>
        </p:nvCxnSpPr>
        <p:spPr>
          <a:xfrm flipH="1">
            <a:off x="1625888" y="2146065"/>
            <a:ext cx="3" cy="9708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BCE125-796E-A64F-575A-E7722502EFE2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223835" y="2155535"/>
            <a:ext cx="0" cy="2299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B24E04-3C0A-E1B8-B033-D65688E993FE}"/>
              </a:ext>
            </a:extLst>
          </p:cNvPr>
          <p:cNvCxnSpPr>
            <a:cxnSpLocks/>
          </p:cNvCxnSpPr>
          <p:nvPr/>
        </p:nvCxnSpPr>
        <p:spPr>
          <a:xfrm flipV="1">
            <a:off x="5304761" y="5172795"/>
            <a:ext cx="0" cy="482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2D1CB4-9F39-4E38-7020-C1AB2BEE347B}"/>
              </a:ext>
            </a:extLst>
          </p:cNvPr>
          <p:cNvSpPr txBox="1"/>
          <p:nvPr/>
        </p:nvSpPr>
        <p:spPr>
          <a:xfrm>
            <a:off x="7124498" y="5283638"/>
            <a:ext cx="5545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Lu par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396085-3663-7EDB-0480-CFED1D63929A}"/>
              </a:ext>
            </a:extLst>
          </p:cNvPr>
          <p:cNvCxnSpPr>
            <a:cxnSpLocks/>
          </p:cNvCxnSpPr>
          <p:nvPr/>
        </p:nvCxnSpPr>
        <p:spPr>
          <a:xfrm>
            <a:off x="7116000" y="5172795"/>
            <a:ext cx="0" cy="487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4F98E1B-13C0-AAFD-75E0-9BFB01A2CC99}"/>
              </a:ext>
            </a:extLst>
          </p:cNvPr>
          <p:cNvSpPr/>
          <p:nvPr/>
        </p:nvSpPr>
        <p:spPr>
          <a:xfrm>
            <a:off x="9365911" y="3139461"/>
            <a:ext cx="2453537" cy="718037"/>
          </a:xfrm>
          <a:prstGeom prst="roundRect">
            <a:avLst>
              <a:gd name="adj" fmla="val 50000"/>
            </a:avLst>
          </a:prstGeom>
          <a:solidFill>
            <a:srgbClr val="C2DBE4"/>
          </a:solidFill>
          <a:ln w="9525">
            <a:solidFill>
              <a:srgbClr val="C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accent1"/>
                </a:solidFill>
              </a:rPr>
              <a:t>Prometheus</a:t>
            </a:r>
          </a:p>
          <a:p>
            <a:pPr algn="ctr"/>
            <a:r>
              <a:rPr lang="fr-FR" sz="1000" noProof="0" dirty="0">
                <a:solidFill>
                  <a:schemeClr val="accent1"/>
                </a:solidFill>
              </a:rPr>
              <a:t>Collecte de métriques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6EB2DA-6BA5-AB86-C6D7-F06DCE42329D}"/>
              </a:ext>
            </a:extLst>
          </p:cNvPr>
          <p:cNvCxnSpPr>
            <a:cxnSpLocks/>
          </p:cNvCxnSpPr>
          <p:nvPr/>
        </p:nvCxnSpPr>
        <p:spPr>
          <a:xfrm>
            <a:off x="10592680" y="2146065"/>
            <a:ext cx="0" cy="970878"/>
          </a:xfrm>
          <a:prstGeom prst="straightConnector1">
            <a:avLst/>
          </a:prstGeom>
          <a:ln>
            <a:solidFill>
              <a:srgbClr val="C2DBE4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D78E28-5004-9FAE-CC3A-0768C00B54B8}"/>
              </a:ext>
            </a:extLst>
          </p:cNvPr>
          <p:cNvCxnSpPr>
            <a:cxnSpLocks/>
          </p:cNvCxnSpPr>
          <p:nvPr/>
        </p:nvCxnSpPr>
        <p:spPr>
          <a:xfrm flipH="1">
            <a:off x="7968166" y="2145016"/>
            <a:ext cx="2175" cy="921079"/>
          </a:xfrm>
          <a:prstGeom prst="straightConnector1">
            <a:avLst/>
          </a:prstGeom>
          <a:ln>
            <a:solidFill>
              <a:srgbClr val="C2DBE4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6" name="Graphic 85" descr="Lost with solid fill">
            <a:extLst>
              <a:ext uri="{FF2B5EF4-FFF2-40B4-BE49-F238E27FC236}">
                <a16:creationId xmlns:a16="http://schemas.microsoft.com/office/drawing/2014/main" id="{EB112090-A8FF-FCCA-080B-A42784840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6846" y="3014197"/>
            <a:ext cx="502640" cy="50264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1D150009-58C1-DFB4-95F2-95D0BCBFFCDE}"/>
              </a:ext>
            </a:extLst>
          </p:cNvPr>
          <p:cNvSpPr txBox="1"/>
          <p:nvPr/>
        </p:nvSpPr>
        <p:spPr>
          <a:xfrm>
            <a:off x="6814446" y="3050617"/>
            <a:ext cx="929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noProof="0" dirty="0">
                <a:solidFill>
                  <a:srgbClr val="C2DBE4"/>
                </a:solidFill>
              </a:rPr>
              <a:t>Loki forwarder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480A772-5CEB-BC20-5DA3-D84C77A03C56}"/>
              </a:ext>
            </a:extLst>
          </p:cNvPr>
          <p:cNvSpPr txBox="1"/>
          <p:nvPr/>
        </p:nvSpPr>
        <p:spPr>
          <a:xfrm>
            <a:off x="6841711" y="6416102"/>
            <a:ext cx="1513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Mail (SMTP), canal de notification</a:t>
            </a:r>
          </a:p>
        </p:txBody>
      </p:sp>
      <p:pic>
        <p:nvPicPr>
          <p:cNvPr id="101" name="Picture 100" descr="Blue VPN shield icon PSD - PSDgraphics">
            <a:extLst>
              <a:ext uri="{FF2B5EF4-FFF2-40B4-BE49-F238E27FC236}">
                <a16:creationId xmlns:a16="http://schemas.microsoft.com/office/drawing/2014/main" id="{4A689E0A-E4ED-CD2D-FE01-04565FF688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18" t="4942" r="15928" b="5394"/>
          <a:stretch>
            <a:fillRect/>
          </a:stretch>
        </p:blipFill>
        <p:spPr>
          <a:xfrm>
            <a:off x="9061136" y="4171116"/>
            <a:ext cx="458395" cy="404419"/>
          </a:xfrm>
          <a:prstGeom prst="rect">
            <a:avLst/>
          </a:prstGeom>
        </p:spPr>
      </p:pic>
      <p:pic>
        <p:nvPicPr>
          <p:cNvPr id="102" name="Picture 101" descr="Blue VPN shield icon PSD - PSDgraphics">
            <a:extLst>
              <a:ext uri="{FF2B5EF4-FFF2-40B4-BE49-F238E27FC236}">
                <a16:creationId xmlns:a16="http://schemas.microsoft.com/office/drawing/2014/main" id="{0AA863A7-CB67-EB7B-0AAB-6BF2FF5D24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18" t="4942" r="15928" b="5394"/>
          <a:stretch>
            <a:fillRect/>
          </a:stretch>
        </p:blipFill>
        <p:spPr>
          <a:xfrm>
            <a:off x="10033255" y="4172044"/>
            <a:ext cx="458395" cy="404419"/>
          </a:xfrm>
          <a:prstGeom prst="rect">
            <a:avLst/>
          </a:prstGeom>
        </p:spPr>
      </p:pic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6F1F5FB4-0B77-B716-941A-8B5C06931711}"/>
              </a:ext>
            </a:extLst>
          </p:cNvPr>
          <p:cNvCxnSpPr>
            <a:cxnSpLocks/>
            <a:stCxn id="8" idx="2"/>
            <a:endCxn id="95" idx="1"/>
          </p:cNvCxnSpPr>
          <p:nvPr/>
        </p:nvCxnSpPr>
        <p:spPr>
          <a:xfrm rot="16200000" flipH="1">
            <a:off x="6337582" y="6112028"/>
            <a:ext cx="262546" cy="7457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2878415-F4D8-6500-9C20-2ADC27838B58}"/>
              </a:ext>
            </a:extLst>
          </p:cNvPr>
          <p:cNvSpPr txBox="1"/>
          <p:nvPr/>
        </p:nvSpPr>
        <p:spPr>
          <a:xfrm>
            <a:off x="1605126" y="2399421"/>
            <a:ext cx="936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Mesure continue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46BA232-726A-61A9-FDC4-70F8274D0080}"/>
              </a:ext>
            </a:extLst>
          </p:cNvPr>
          <p:cNvSpPr txBox="1"/>
          <p:nvPr/>
        </p:nvSpPr>
        <p:spPr>
          <a:xfrm>
            <a:off x="4237485" y="2399421"/>
            <a:ext cx="710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Via Promtail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85006E1-D1B4-EEEB-D108-B346B8363DE9}"/>
              </a:ext>
            </a:extLst>
          </p:cNvPr>
          <p:cNvSpPr txBox="1"/>
          <p:nvPr/>
        </p:nvSpPr>
        <p:spPr>
          <a:xfrm>
            <a:off x="7962709" y="2399421"/>
            <a:ext cx="936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Mesure continue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ACDE78C-C9F3-B5F5-F9E9-1774DD7056F8}"/>
              </a:ext>
            </a:extLst>
          </p:cNvPr>
          <p:cNvSpPr txBox="1"/>
          <p:nvPr/>
        </p:nvSpPr>
        <p:spPr>
          <a:xfrm>
            <a:off x="10595068" y="2399421"/>
            <a:ext cx="710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Via Promtail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F663697D-1F5A-4839-0172-4088793D108E}"/>
              </a:ext>
            </a:extLst>
          </p:cNvPr>
          <p:cNvSpPr/>
          <p:nvPr/>
        </p:nvSpPr>
        <p:spPr>
          <a:xfrm>
            <a:off x="9420851" y="1436252"/>
            <a:ext cx="2362739" cy="726069"/>
          </a:xfrm>
          <a:prstGeom prst="roundRect">
            <a:avLst>
              <a:gd name="adj" fmla="val 50000"/>
            </a:avLst>
          </a:prstGeom>
          <a:solidFill>
            <a:srgbClr val="C2DBE4"/>
          </a:solidFill>
          <a:ln w="9525">
            <a:solidFill>
              <a:srgbClr val="C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1"/>
                </a:solidFill>
              </a:rPr>
              <a:t>Sources de métriques</a:t>
            </a:r>
            <a:endParaRPr lang="fr-FR" sz="1200" noProof="0" dirty="0">
              <a:solidFill>
                <a:schemeClr val="accent1"/>
              </a:solidFill>
            </a:endParaRPr>
          </a:p>
          <a:p>
            <a:pPr algn="ctr"/>
            <a:r>
              <a:rPr lang="fr-FR" sz="1000" dirty="0">
                <a:solidFill>
                  <a:schemeClr val="accent1"/>
                </a:solidFill>
              </a:rPr>
              <a:t>a</a:t>
            </a:r>
            <a:r>
              <a:rPr lang="fr-FR" sz="1000" noProof="0" dirty="0">
                <a:solidFill>
                  <a:schemeClr val="accent1"/>
                </a:solidFill>
              </a:rPr>
              <a:t>pi, </a:t>
            </a:r>
            <a:r>
              <a:rPr lang="fr-FR" sz="1000" noProof="0" dirty="0" err="1">
                <a:solidFill>
                  <a:schemeClr val="accent1"/>
                </a:solidFill>
              </a:rPr>
              <a:t>kube</a:t>
            </a:r>
            <a:r>
              <a:rPr lang="fr-FR" sz="1000" noProof="0" dirty="0">
                <a:solidFill>
                  <a:schemeClr val="accent1"/>
                </a:solidFill>
              </a:rPr>
              <a:t>-state-</a:t>
            </a:r>
            <a:r>
              <a:rPr lang="fr-FR" sz="1000" noProof="0" dirty="0" err="1">
                <a:solidFill>
                  <a:schemeClr val="accent1"/>
                </a:solidFill>
              </a:rPr>
              <a:t>metrics</a:t>
            </a:r>
            <a:r>
              <a:rPr lang="fr-FR" sz="1000" noProof="0" dirty="0">
                <a:solidFill>
                  <a:schemeClr val="accent1"/>
                </a:solidFill>
              </a:rPr>
              <a:t>, </a:t>
            </a:r>
            <a:r>
              <a:rPr lang="fr-FR" sz="1000" noProof="0" dirty="0" err="1">
                <a:solidFill>
                  <a:schemeClr val="accent1"/>
                </a:solidFill>
              </a:rPr>
              <a:t>blackbox</a:t>
            </a:r>
            <a:r>
              <a:rPr lang="fr-FR" sz="1000" noProof="0" dirty="0">
                <a:solidFill>
                  <a:schemeClr val="accent1"/>
                </a:solidFill>
              </a:rPr>
              <a:t>-exporter, </a:t>
            </a:r>
            <a:r>
              <a:rPr lang="fr-FR" sz="1000" noProof="0" dirty="0" err="1">
                <a:solidFill>
                  <a:schemeClr val="accent1"/>
                </a:solidFill>
              </a:rPr>
              <a:t>node</a:t>
            </a:r>
            <a:r>
              <a:rPr lang="fr-FR" sz="1000" noProof="0" dirty="0">
                <a:solidFill>
                  <a:schemeClr val="accent1"/>
                </a:solidFill>
              </a:rPr>
              <a:t>-exporter</a:t>
            </a:r>
            <a:endParaRPr lang="fr-FR" sz="800" noProof="0" dirty="0">
              <a:solidFill>
                <a:schemeClr val="accent1"/>
              </a:solidFill>
            </a:endParaRP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9F076449-28BA-01E0-74F4-A3A95D18B9E9}"/>
              </a:ext>
            </a:extLst>
          </p:cNvPr>
          <p:cNvSpPr/>
          <p:nvPr/>
        </p:nvSpPr>
        <p:spPr>
          <a:xfrm>
            <a:off x="6748212" y="1442514"/>
            <a:ext cx="2453543" cy="726069"/>
          </a:xfrm>
          <a:prstGeom prst="roundRect">
            <a:avLst>
              <a:gd name="adj" fmla="val 50000"/>
            </a:avLst>
          </a:prstGeom>
          <a:solidFill>
            <a:srgbClr val="C2DBE4"/>
          </a:solidFill>
          <a:ln w="9525">
            <a:solidFill>
              <a:srgbClr val="C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accent1"/>
                </a:solidFill>
              </a:rPr>
              <a:t>Sources de logs</a:t>
            </a:r>
          </a:p>
          <a:p>
            <a:pPr algn="ctr"/>
            <a:r>
              <a:rPr lang="fr-FR" sz="1000" noProof="0" dirty="0">
                <a:solidFill>
                  <a:schemeClr val="accent1"/>
                </a:solidFill>
              </a:rPr>
              <a:t>Logs stdout/</a:t>
            </a:r>
            <a:r>
              <a:rPr lang="fr-FR" sz="1000" noProof="0" dirty="0" err="1">
                <a:solidFill>
                  <a:schemeClr val="accent1"/>
                </a:solidFill>
              </a:rPr>
              <a:t>stderr</a:t>
            </a:r>
            <a:r>
              <a:rPr lang="fr-FR" sz="1000" noProof="0" dirty="0">
                <a:solidFill>
                  <a:schemeClr val="accent1"/>
                </a:solidFill>
              </a:rPr>
              <a:t> de tous les </a:t>
            </a:r>
            <a:r>
              <a:rPr lang="fr-FR" sz="1000" noProof="0" dirty="0" err="1">
                <a:solidFill>
                  <a:schemeClr val="accent1"/>
                </a:solidFill>
              </a:rPr>
              <a:t>pods</a:t>
            </a:r>
            <a:endParaRPr lang="fr-FR" sz="1000" b="1" noProof="0" dirty="0">
              <a:solidFill>
                <a:schemeClr val="accent1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52C0884-40A0-6D44-37BD-A38F58370458}"/>
              </a:ext>
            </a:extLst>
          </p:cNvPr>
          <p:cNvSpPr txBox="1"/>
          <p:nvPr/>
        </p:nvSpPr>
        <p:spPr>
          <a:xfrm>
            <a:off x="1032985" y="6528809"/>
            <a:ext cx="619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 err="1">
                <a:solidFill>
                  <a:schemeClr val="accent1"/>
                </a:solidFill>
              </a:rPr>
              <a:t>Kapsule</a:t>
            </a:r>
            <a:endParaRPr lang="fr-FR" sz="800" dirty="0">
              <a:solidFill>
                <a:schemeClr val="accent1"/>
              </a:solidFill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7A72EA20-1BC1-ABDC-5D80-D0D5F496618E}"/>
              </a:ext>
            </a:extLst>
          </p:cNvPr>
          <p:cNvSpPr/>
          <p:nvPr/>
        </p:nvSpPr>
        <p:spPr>
          <a:xfrm>
            <a:off x="76014" y="6416102"/>
            <a:ext cx="2970569" cy="362511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66A4E1D-3090-21EA-AD7C-D1D34404DF30}"/>
              </a:ext>
            </a:extLst>
          </p:cNvPr>
          <p:cNvSpPr txBox="1"/>
          <p:nvPr/>
        </p:nvSpPr>
        <p:spPr>
          <a:xfrm>
            <a:off x="204921" y="6365252"/>
            <a:ext cx="431527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fr-FR" sz="800" b="1" dirty="0">
                <a:solidFill>
                  <a:schemeClr val="accent1"/>
                </a:solidFill>
              </a:rPr>
              <a:t>Legend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0316FEF-53F7-6387-6FBE-E77330FEDDAF}"/>
              </a:ext>
            </a:extLst>
          </p:cNvPr>
          <p:cNvSpPr/>
          <p:nvPr/>
        </p:nvSpPr>
        <p:spPr>
          <a:xfrm>
            <a:off x="240903" y="6564531"/>
            <a:ext cx="144000" cy="144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1200" b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54C1809-A567-B730-C080-AC7409BDC6E9}"/>
              </a:ext>
            </a:extLst>
          </p:cNvPr>
          <p:cNvSpPr/>
          <p:nvPr/>
        </p:nvSpPr>
        <p:spPr>
          <a:xfrm>
            <a:off x="946932" y="6564531"/>
            <a:ext cx="144000" cy="144000"/>
          </a:xfrm>
          <a:prstGeom prst="rect">
            <a:avLst/>
          </a:prstGeom>
          <a:solidFill>
            <a:srgbClr val="C2DBE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1200" b="1">
              <a:solidFill>
                <a:schemeClr val="bg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5B7AF8F-0CBD-B10F-46A0-0766C4D0D7E0}"/>
              </a:ext>
            </a:extLst>
          </p:cNvPr>
          <p:cNvSpPr txBox="1"/>
          <p:nvPr/>
        </p:nvSpPr>
        <p:spPr>
          <a:xfrm>
            <a:off x="324054" y="6528809"/>
            <a:ext cx="619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/>
                </a:solidFill>
              </a:rPr>
              <a:t>VPS</a:t>
            </a:r>
          </a:p>
        </p:txBody>
      </p:sp>
      <p:pic>
        <p:nvPicPr>
          <p:cNvPr id="169" name="Picture 168" descr="Blue VPN shield icon PSD - PSDgraphics">
            <a:extLst>
              <a:ext uri="{FF2B5EF4-FFF2-40B4-BE49-F238E27FC236}">
                <a16:creationId xmlns:a16="http://schemas.microsoft.com/office/drawing/2014/main" id="{7FDE6112-8124-40A4-C4E6-ACE320E15E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18" t="4942" r="15928" b="5394"/>
          <a:stretch>
            <a:fillRect/>
          </a:stretch>
        </p:blipFill>
        <p:spPr>
          <a:xfrm>
            <a:off x="1895709" y="6531237"/>
            <a:ext cx="238694" cy="210588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94632790-1FEB-8889-F151-1507BC9E57A7}"/>
              </a:ext>
            </a:extLst>
          </p:cNvPr>
          <p:cNvSpPr txBox="1"/>
          <p:nvPr/>
        </p:nvSpPr>
        <p:spPr>
          <a:xfrm>
            <a:off x="2037943" y="6528809"/>
            <a:ext cx="8394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/>
                </a:solidFill>
              </a:rPr>
              <a:t>VPN </a:t>
            </a:r>
            <a:r>
              <a:rPr lang="fr-FR" sz="800" dirty="0" err="1">
                <a:solidFill>
                  <a:schemeClr val="accent1"/>
                </a:solidFill>
              </a:rPr>
              <a:t>Tailscale</a:t>
            </a:r>
            <a:endParaRPr lang="fr-FR" sz="800" dirty="0">
              <a:solidFill>
                <a:schemeClr val="accent1"/>
              </a:solidFill>
            </a:endParaRP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37692AFA-3043-5A79-97AB-A1A743C0D3F6}"/>
              </a:ext>
            </a:extLst>
          </p:cNvPr>
          <p:cNvCxnSpPr>
            <a:stCxn id="4" idx="2"/>
            <a:endCxn id="8" idx="1"/>
          </p:cNvCxnSpPr>
          <p:nvPr/>
        </p:nvCxnSpPr>
        <p:spPr>
          <a:xfrm rot="16200000" flipH="1">
            <a:off x="1599303" y="3860517"/>
            <a:ext cx="2172901" cy="211973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F518AED4-6EBE-254E-80CC-7A6CAEF00990}"/>
              </a:ext>
            </a:extLst>
          </p:cNvPr>
          <p:cNvCxnSpPr>
            <a:cxnSpLocks/>
            <a:stCxn id="86" idx="3"/>
            <a:endCxn id="6" idx="3"/>
          </p:cNvCxnSpPr>
          <p:nvPr/>
        </p:nvCxnSpPr>
        <p:spPr>
          <a:xfrm>
            <a:off x="8219486" y="3265517"/>
            <a:ext cx="226896" cy="1548260"/>
          </a:xfrm>
          <a:prstGeom prst="curvedConnector3">
            <a:avLst>
              <a:gd name="adj1" fmla="val 349687"/>
            </a:avLst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45649442-AF9E-9A6C-520C-5E10411D035F}"/>
              </a:ext>
            </a:extLst>
          </p:cNvPr>
          <p:cNvCxnSpPr>
            <a:cxnSpLocks/>
            <a:stCxn id="31" idx="2"/>
            <a:endCxn id="8" idx="3"/>
          </p:cNvCxnSpPr>
          <p:nvPr/>
        </p:nvCxnSpPr>
        <p:spPr>
          <a:xfrm rot="5400000">
            <a:off x="8444864" y="3859016"/>
            <a:ext cx="2149335" cy="2146299"/>
          </a:xfrm>
          <a:prstGeom prst="curved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74AFF4B-0078-EF5F-E67D-3D0028EAC2E6}"/>
              </a:ext>
            </a:extLst>
          </p:cNvPr>
          <p:cNvSpPr txBox="1"/>
          <p:nvPr/>
        </p:nvSpPr>
        <p:spPr>
          <a:xfrm rot="15202815">
            <a:off x="8738375" y="3710821"/>
            <a:ext cx="416485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>
            <a:spAutoFit/>
          </a:bodyPr>
          <a:lstStyle>
            <a:defPPr>
              <a:defRPr lang="en-FR"/>
            </a:defPPr>
            <a:lvl1pPr algn="ctr">
              <a:defRPr sz="1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Push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FAF4F4-348A-68E8-F03B-7D06663C1E09}"/>
              </a:ext>
            </a:extLst>
          </p:cNvPr>
          <p:cNvSpPr txBox="1"/>
          <p:nvPr/>
        </p:nvSpPr>
        <p:spPr>
          <a:xfrm rot="18158498">
            <a:off x="9934506" y="4871495"/>
            <a:ext cx="55457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sz="1000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Lu par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F78899E-482B-33EC-1921-756B33662106}"/>
              </a:ext>
            </a:extLst>
          </p:cNvPr>
          <p:cNvSpPr txBox="1"/>
          <p:nvPr/>
        </p:nvSpPr>
        <p:spPr>
          <a:xfrm rot="3040018">
            <a:off x="1873703" y="5048279"/>
            <a:ext cx="55457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000" noProof="0" dirty="0">
                <a:solidFill>
                  <a:schemeClr val="accent1"/>
                </a:solidFill>
              </a:rPr>
              <a:t>Lu par</a:t>
            </a:r>
          </a:p>
        </p:txBody>
      </p:sp>
    </p:spTree>
    <p:extLst>
      <p:ext uri="{BB962C8B-B14F-4D97-AF65-F5344CB8AC3E}">
        <p14:creationId xmlns:p14="http://schemas.microsoft.com/office/powerpoint/2010/main" val="16450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33E24B-0D56-BD42-BDE6-6B3B0DFC243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bdf0758-28a3-4265-98ad-5b44672171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78365</TotalTime>
  <Words>1152</Words>
  <Application>Microsoft Macintosh PowerPoint</Application>
  <PresentationFormat>Widescreen</PresentationFormat>
  <Paragraphs>270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MLOps</vt:lpstr>
      <vt:lpstr>PowerPoint Presentation</vt:lpstr>
      <vt:lpstr>PowerPoint Presentation</vt:lpstr>
      <vt:lpstr>PowerPoint Presentation</vt:lpstr>
      <vt:lpstr>Annexes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cattelin</dc:creator>
  <cp:lastModifiedBy>jacques cattelin</cp:lastModifiedBy>
  <cp:revision>472</cp:revision>
  <dcterms:created xsi:type="dcterms:W3CDTF">2025-04-10T06:02:53Z</dcterms:created>
  <dcterms:modified xsi:type="dcterms:W3CDTF">2026-10-02T12:17:36Z</dcterms:modified>
</cp:coreProperties>
</file>