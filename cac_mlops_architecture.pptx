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Flow Annuel — Mise à Jour des Données ONISR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88952" cy="32004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E8EAF0"/>
                </a:solidFill>
                <a:latin typeface="Calibri"/>
              </a:rPr>
              <a:t>Entraînement : 2021 → 2022 → 2023   ·   Production simulée : données 2024 via simulate_production.py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115568"/>
            <a:ext cx="347472" cy="475488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2176272" cy="475488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DÉCLENCHEUR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15568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Prefect flow planifié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(annuel) ou manuel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4751" y="1591056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64592" y="1728216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28216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INGESTION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728216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data.gouv.fr API · FILENAMES mapping/année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4 fichiers CSV · ~340 000 lignes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4751" y="2203704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64592" y="2340864"/>
            <a:ext cx="3474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21762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VALIDATION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340864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Pandera · 3 niveaux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Format · Colonnes · Qualité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4751" y="281635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4592" y="2953512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53512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PREPROCESSING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953512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Fusion 4 tables · Feature engineering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~55 000 lignes × 28 feat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44751" y="3429000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64592" y="3566160"/>
            <a:ext cx="347472" cy="475488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66160"/>
            <a:ext cx="2176272" cy="475488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VERSIONING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3566160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DVC tag data-v{N}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Push → Scaleway Object Storage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44751" y="4041648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64592" y="4178808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78808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ENTRAÎNEMENT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4178808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RandomForest sur cumul 2021→N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MLflow run #{N} · params + metrics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444751" y="4654296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64592" y="4791456"/>
            <a:ext cx="3474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91456"/>
            <a:ext cx="21762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VALIDATION MODÈLE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791456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F1 ≥ 0.68 · AUC ≥ 0.75 · Recall ≥ 0.65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vs modèle en production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44751" y="5266944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64592" y="5404104"/>
            <a:ext cx="347472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404104"/>
            <a:ext cx="2176272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DÉPLOIEMENT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5404104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MLflow Registry → Production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API rechargée · rolling update K8s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444751" y="587959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64592" y="6016752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016752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6016752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Prometheus · Evidently · Grafana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Evidently : ref=2021-23 · prod=2024 · retrain auto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788920" cy="384048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74C3C"/>
                </a:solidFill>
                <a:latin typeface="Calibri"/>
              </a:rPr>
              <a:t>❌  CRITICAL → STOP</a:t>
            </a:r>
          </a:p>
          <a:p>
            <a:pPr algn="l"/>
            <a:r>
              <a:rPr sz="900" b="0">
                <a:solidFill>
                  <a:srgbClr val="E74C3C"/>
                </a:solidFill>
                <a:latin typeface="Calibri"/>
              </a:rPr>
              <a:t>Alerte équipe · modèle N-1 reste actif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2770632"/>
            <a:ext cx="2788920" cy="347472"/>
          </a:xfrm>
          <a:prstGeom prst="rect">
            <a:avLst/>
          </a:prstGeom>
          <a:solidFill>
            <a:srgbClr val="3D2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F39C12"/>
                </a:solidFill>
                <a:latin typeface="Calibri"/>
              </a:rPr>
              <a:t>⚠️   WARNING → Log + Continue</a:t>
            </a:r>
          </a:p>
          <a:p>
            <a:pPr algn="l"/>
            <a:r>
              <a:rPr sz="900" b="0">
                <a:solidFill>
                  <a:srgbClr val="F39C12"/>
                </a:solidFill>
                <a:latin typeface="Calibri"/>
              </a:rPr>
              <a:t>Anomalie enregistrée dans MLflow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35440" y="3182112"/>
            <a:ext cx="2788920" cy="274320"/>
          </a:xfrm>
          <a:prstGeom prst="rect">
            <a:avLst/>
          </a:prstGeom>
          <a:solidFill>
            <a:srgbClr val="0A2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2ECC71"/>
                </a:solidFill>
                <a:latin typeface="Calibri"/>
              </a:rPr>
              <a:t>✅  OK → Pipeline continue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016752"/>
            <a:ext cx="2788920" cy="47548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données 2024 →</a:t>
            </a:r>
          </a:p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simulate_production.py → Evidently</a:t>
            </a:r>
          </a:p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ref:2021-23  prod:2024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62288" y="2295144"/>
            <a:ext cx="36576" cy="1188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592" y="6675120"/>
            <a:ext cx="11887200" cy="310896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  Traçabilité intégrale à chaque run   ·   Git (code)   ·   DVC (données)   ·   MLflow (modèle +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89920" y="6537960"/>
            <a:ext cx="1280160" cy="22860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700" b="0">
                <a:solidFill>
                  <a:srgbClr val="2A304D"/>
                </a:solidFill>
                <a:latin typeface="Calibri"/>
              </a:rPr>
              <a:t>Liora — MLOps Accidents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Architecture MLOps — Accidents Routiers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88952" cy="32004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E8EAF0"/>
                </a:solidFill>
                <a:latin typeface="Calibri"/>
              </a:rPr>
              <a:t>Stack complète · Local → Scaleway · 4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078992"/>
            <a:ext cx="1417320" cy="4572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627632" y="1078992"/>
            <a:ext cx="10424160" cy="45720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data.gouv.fr / ONISR   ·   Données annuelles (publication juin N+1)   ·   4 fichiers CSV / an   ·   ~340 000 lignes brutes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08192" y="153619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1673352"/>
            <a:ext cx="1417320" cy="731520"/>
          </a:xfrm>
          <a:prstGeom prst="rect">
            <a:avLst/>
          </a:prstGeom>
          <a:solidFill>
            <a:srgbClr val="2A1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7C4DFF"/>
                </a:solidFill>
                <a:latin typeface="Calibri"/>
              </a:rPr>
              <a:t>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167335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Pandera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Validation schéma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3 niveaux CRITICAL/WARN/OK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239512" y="167335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DVC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Versioning données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tag data-v{N}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51392" y="167335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Scaleway Object Storage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Bucket données brutes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+ preprocessées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08192" y="240487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64592" y="2542032"/>
            <a:ext cx="1417320" cy="731520"/>
          </a:xfrm>
          <a:prstGeom prst="rect">
            <a:avLst/>
          </a:prstGeom>
          <a:solidFill>
            <a:srgbClr val="1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ECC71"/>
                </a:solidFill>
                <a:latin typeface="Calibri"/>
              </a:rPr>
              <a:t>ENTRAÎ-</a:t>
            </a:r>
          </a:p>
          <a:p>
            <a:pPr algn="ctr"/>
            <a:r>
              <a:rPr sz="1000" b="1">
                <a:solidFill>
                  <a:srgbClr val="2ECC71"/>
                </a:solidFill>
                <a:latin typeface="Calibri"/>
              </a:rPr>
              <a:t>NEMENT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7632" y="254203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make_dataset.py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Fusion 4 tables · Feature eng.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~55k lignes × 28 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9512" y="254203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train_model.py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RandomForest (scikit-learn)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Cumul années 2021 →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51392" y="254203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MLflow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Tracking · Model Registry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Staging → Production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08192" y="327355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4592" y="3410712"/>
            <a:ext cx="1417320" cy="731520"/>
          </a:xfrm>
          <a:prstGeom prst="rect">
            <a:avLst/>
          </a:prstGeom>
          <a:solidFill>
            <a:srgbClr val="2E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SERVING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7632" y="341071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NGINX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Reverse proxy · TLS · Auth JWT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Rate limiting 10 req/s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9512" y="341071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FastAPI + Pydantic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POST /predict   GET /health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GET /metrics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51392" y="341071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Prefect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Orchestration des flows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ETL · Train · Retrain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08192" y="414223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64592" y="4279392"/>
            <a:ext cx="1417320" cy="731520"/>
          </a:xfrm>
          <a:prstGeom prst="rect">
            <a:avLst/>
          </a:prstGeom>
          <a:solidFill>
            <a:srgbClr val="1A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0BCD4"/>
                </a:solidFill>
                <a:latin typeface="Calibri"/>
              </a:rPr>
              <a:t>MONI-</a:t>
            </a:r>
          </a:p>
          <a:p>
            <a:pPr algn="ctr"/>
            <a:r>
              <a:rPr sz="1000" b="1">
                <a:solidFill>
                  <a:srgbClr val="00BCD4"/>
                </a:solidFill>
                <a:latin typeface="Calibri"/>
              </a:rPr>
              <a:t>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7632" y="427939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Prometheus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Métriques API + pipeline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Latence · Volume · Erreurs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9512" y="427939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Evidently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ref: X_train 2021-2023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prod: données 2024 (simulate_prod.py)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51392" y="427939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Grafana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Dashboards · Alertes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Drift CRITICAL → retrain auto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" y="5102352"/>
            <a:ext cx="5888736" cy="694944"/>
          </a:xfrm>
          <a:prstGeom prst="rect">
            <a:avLst/>
          </a:prstGeom>
          <a:solidFill>
            <a:srgbClr val="1A1F40"/>
          </a:solidFill>
          <a:ln w="12700">
            <a:solidFill>
              <a:srgbClr val="2A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LOCAL — Docker Compose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Services sur localhost · MinIO (S3 local) · MLflow :5000 · Prefect :4200 · pytest · flake8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3055" y="5102352"/>
            <a:ext cx="5888736" cy="694944"/>
          </a:xfrm>
          <a:prstGeom prst="rect">
            <a:avLst/>
          </a:prstGeom>
          <a:solidFill>
            <a:srgbClr val="1A1F40"/>
          </a:solidFill>
          <a:ln w="12700">
            <a:solidFill>
              <a:srgbClr val="2A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SCALEWAY — Kubernetes (Kapsule)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N replicas API · Object Storage · Managed DB · Container Registry · GitHub Actions CI/CD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5102352"/>
            <a:ext cx="54864" cy="694944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4901184"/>
            <a:ext cx="5888736" cy="18288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1">
                <a:solidFill>
                  <a:srgbClr val="E8EAF0"/>
                </a:solidFill>
                <a:latin typeface="Calibri"/>
              </a:rPr>
              <a:t>💻  Développement local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5" y="4901184"/>
            <a:ext cx="5888736" cy="18288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1">
                <a:solidFill>
                  <a:srgbClr val="FF5F2E"/>
                </a:solidFill>
                <a:latin typeface="Calibri"/>
              </a:rPr>
              <a:t>☁️  Production Scaleway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6537960"/>
            <a:ext cx="11887200" cy="22860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8888AA"/>
                </a:solidFill>
                <a:latin typeface="Calibri"/>
              </a:rPr>
              <a:t>  Git (code)  ·  DVC (données)  ·  MLflow (modèles)  ·  Pandera (validation)  ·  Prefect (orchestration)  ·  NGINX (sécurité)  ·  Evidently (drift)  ·  Prometheus/Grafana (monitoring)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