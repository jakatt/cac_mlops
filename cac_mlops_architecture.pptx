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Flow Annuel — Mise à Jour des Données ONISR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32004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AF0"/>
                </a:solidFill>
                <a:latin typeface="Calibri"/>
              </a:rPr>
              <a:t>Déclenché chaque juin · Publication officielle ONISR sur data.gouv.fr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" y="1115568"/>
            <a:ext cx="347472" cy="475488"/>
          </a:xfrm>
          <a:prstGeom prst="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176272" cy="475488"/>
          </a:xfrm>
          <a:prstGeom prst="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DÉCLENCHEUR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15568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Prefect flow planifié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(annuel) ou manuel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4751" y="1591056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64592" y="1728216"/>
            <a:ext cx="3474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28216"/>
            <a:ext cx="21762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728216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Téléchargement data.gouv.fr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4 fichiers CSV · ~340 000 lignes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4751" y="2203704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4592" y="2340864"/>
            <a:ext cx="347472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40864"/>
            <a:ext cx="2176272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VALIDATION SCHÉMA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340864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Pandera · 3 niveaux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Format · Colonnes · Qualité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4751" y="2816352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64592" y="2953512"/>
            <a:ext cx="3474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53512"/>
            <a:ext cx="21762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953512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Fusion 4 tables · Feature engineering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~55 000 lignes × 28 feat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44751" y="3429000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64592" y="3566160"/>
            <a:ext cx="347472" cy="47548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2176272" cy="47548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VERSIONING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566160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DVC tag data-v{N}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Push → Scaleway Object Storage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44751" y="4041648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64592" y="4178808"/>
            <a:ext cx="3474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78808"/>
            <a:ext cx="21762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ENTRAÎNEMENT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178808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RandomForest sur cumul 2021→N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MLflow run #{N} · params + metrics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44751" y="4654296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64592" y="4791456"/>
            <a:ext cx="347472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91456"/>
            <a:ext cx="2176272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VALIDATION MODÈLE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791456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F1 ≥ 0.68 · AUC ≥ 0.75 · Recall ≥ 0.65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vs modèle en production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44751" y="5266944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4592" y="5404104"/>
            <a:ext cx="347472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04104"/>
            <a:ext cx="2176272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DÉPLOIEMENT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404104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MLflow Registry → Production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API rechargée · rolling update K8s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44751" y="5879592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64592" y="6016752"/>
            <a:ext cx="3474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016752"/>
            <a:ext cx="2176272" cy="4754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6016752"/>
            <a:ext cx="6126480" cy="475488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Prometheus · Evidently · Grafana</a:t>
            </a:r>
          </a:p>
          <a:p>
            <a:pPr algn="l"/>
            <a:r>
              <a:rPr sz="1000" b="0">
                <a:solidFill>
                  <a:srgbClr val="E8EAF0"/>
                </a:solidFill>
                <a:latin typeface="Calibri"/>
              </a:rPr>
              <a:t>Drift détecté → retrain auto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2322576"/>
            <a:ext cx="2788920" cy="384048"/>
          </a:xfrm>
          <a:prstGeom prst="rect">
            <a:avLst/>
          </a:prstGeom>
          <a:solidFill>
            <a:srgbClr val="4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74C3C"/>
                </a:solidFill>
                <a:latin typeface="Calibri"/>
              </a:rPr>
              <a:t>❌  CRITICAL → STOP</a:t>
            </a:r>
          </a:p>
          <a:p>
            <a:pPr algn="l"/>
            <a:r>
              <a:rPr sz="900" b="0">
                <a:solidFill>
                  <a:srgbClr val="E74C3C"/>
                </a:solidFill>
                <a:latin typeface="Calibri"/>
              </a:rPr>
              <a:t>Alerte équipe · modèle N-1 reste actif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2770632"/>
            <a:ext cx="2788920" cy="347472"/>
          </a:xfrm>
          <a:prstGeom prst="rect">
            <a:avLst/>
          </a:prstGeom>
          <a:solidFill>
            <a:srgbClr val="3D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39C12"/>
                </a:solidFill>
                <a:latin typeface="Calibri"/>
              </a:rPr>
              <a:t>⚠️   WARNING → Log + Continue</a:t>
            </a:r>
          </a:p>
          <a:p>
            <a:pPr algn="l"/>
            <a:r>
              <a:rPr sz="900" b="0">
                <a:solidFill>
                  <a:srgbClr val="F39C12"/>
                </a:solidFill>
                <a:latin typeface="Calibri"/>
              </a:rPr>
              <a:t>Anomalie enregistrée dans MLflow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3182112"/>
            <a:ext cx="2788920" cy="274320"/>
          </a:xfrm>
          <a:prstGeom prst="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ECC71"/>
                </a:solidFill>
                <a:latin typeface="Calibri"/>
              </a:rPr>
              <a:t>✅  OK → Pipeline continue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62288" y="2295144"/>
            <a:ext cx="36576" cy="1188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2" y="6675120"/>
            <a:ext cx="11887200" cy="310896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5F2E"/>
                </a:solidFill>
                <a:latin typeface="Calibri"/>
              </a:rPr>
              <a:t>  Traçabilité intégrale à chaque run   ·   Git (code)   ·   DVC (données)   ·   MLflow (modèle + métriques)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2A304D"/>
                </a:solidFill>
                <a:latin typeface="Calibri"/>
              </a:rPr>
              <a:t>Liora — MLOps Accidents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Architecture MLOps — Accidents Routiers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32004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AF0"/>
                </a:solidFill>
                <a:latin typeface="Calibri"/>
              </a:rPr>
              <a:t>Stack complète · Local → Scaleway · 4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" y="1078992"/>
            <a:ext cx="1417320" cy="4572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5F2E"/>
                </a:solidFill>
                <a:latin typeface="Calibri"/>
              </a:rPr>
              <a:t>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078992"/>
            <a:ext cx="10424160" cy="45720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data.gouv.fr / ONISR   ·   Données annuelles (publication juin N+1)   ·   4 fichiers CSV / an   ·   ~340 000 lignes brutes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08192" y="1536192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4592" y="1673352"/>
            <a:ext cx="1417320" cy="73152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4DFF"/>
                </a:solidFill>
                <a:latin typeface="Calibri"/>
              </a:rPr>
              <a:t>DONNÉES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167335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Pandera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Validation schéma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3 niveaux CRITICAL/WARN/OK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9512" y="167335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DVC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Versioning données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tag data-v{N}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51392" y="1673352"/>
            <a:ext cx="352044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Scaleway Object Storage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Bucket données brutes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+ preprocessées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8192" y="2404872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4592" y="2542032"/>
            <a:ext cx="1417320" cy="7315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ENTRAÎ-</a:t>
            </a:r>
          </a:p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NEMENT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7632" y="254203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make_dataset.py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Fusion 4 tables · Feature eng.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~55k lignes × 28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9512" y="254203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train_model.py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RandomForest (scikit-learn)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Cumul années 2021 → 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1392" y="2542032"/>
            <a:ext cx="352044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MLflow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Tracking · Model Registry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Staging → Production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8192" y="3273552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4592" y="3410712"/>
            <a:ext cx="1417320" cy="731520"/>
          </a:xfrm>
          <a:prstGeom prst="rect">
            <a:avLst/>
          </a:prstGeom>
          <a:solidFill>
            <a:srgbClr val="2E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5F2E"/>
                </a:solidFill>
                <a:latin typeface="Calibri"/>
              </a:rPr>
              <a:t>SERVING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341071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NGINX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Reverse proxy · TLS · Auth JWT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Rate limiting 10 req/s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9512" y="341071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FastAPI + Pydantic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POST /predict   GET /health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GET /metrics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1392" y="3410712"/>
            <a:ext cx="352044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Prefect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Orchestration des flows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ETL · Train · Retrain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08192" y="4142232"/>
            <a:ext cx="0" cy="137160"/>
          </a:xfrm>
          <a:prstGeom prst="line">
            <a:avLst/>
          </a:prstGeom>
          <a:ln w="25400">
            <a:solidFill>
              <a:srgbClr val="FF5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4592" y="4279392"/>
            <a:ext cx="1417320" cy="731520"/>
          </a:xfrm>
          <a:prstGeom prst="rect">
            <a:avLst/>
          </a:prstGeom>
          <a:solidFill>
            <a:srgbClr val="1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BCD4"/>
                </a:solidFill>
                <a:latin typeface="Calibri"/>
              </a:rPr>
              <a:t>MONI-</a:t>
            </a:r>
          </a:p>
          <a:p>
            <a:pPr algn="ctr"/>
            <a:r>
              <a:rPr sz="1000" b="1">
                <a:solidFill>
                  <a:srgbClr val="00BCD4"/>
                </a:solidFill>
                <a:latin typeface="Calibri"/>
              </a:rPr>
              <a:t>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7632" y="427939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Prometheus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Métriques API + pipeline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Latence · Volume · Erreurs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9512" y="4279392"/>
            <a:ext cx="347472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Evidently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Détection drift features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référence vs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392" y="4279392"/>
            <a:ext cx="3520440" cy="731520"/>
          </a:xfrm>
          <a:prstGeom prst="rect">
            <a:avLst/>
          </a:prstGeom>
          <a:solidFill>
            <a:srgbClr val="2A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Grafana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Dashboards · Alertes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Drift CRITICAL → retrain auto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5102352"/>
            <a:ext cx="5888736" cy="694944"/>
          </a:xfrm>
          <a:prstGeom prst="rect">
            <a:avLst/>
          </a:prstGeom>
          <a:solidFill>
            <a:srgbClr val="1A1F40"/>
          </a:solidFill>
          <a:ln w="12700">
            <a:solidFill>
              <a:srgbClr val="2A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LOCAL — Docker Compose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Services sur localhost · MinIO (S3 local) · MLflow :5000 · Prefect :4200 · pytest · flake8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5" y="5102352"/>
            <a:ext cx="5888736" cy="694944"/>
          </a:xfrm>
          <a:prstGeom prst="rect">
            <a:avLst/>
          </a:prstGeom>
          <a:solidFill>
            <a:srgbClr val="1A1F40"/>
          </a:solidFill>
          <a:ln w="12700">
            <a:solidFill>
              <a:srgbClr val="2A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SCALEWAY — Kubernetes (Kapsule)</a:t>
            </a:r>
          </a:p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N replicas API · Object Storage · Managed DB · Container Registry · GitHub Actions CI/CD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5102352"/>
            <a:ext cx="54864" cy="694944"/>
          </a:xfrm>
          <a:prstGeom prst="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4901184"/>
            <a:ext cx="5888736" cy="18288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E8EAF0"/>
                </a:solidFill>
                <a:latin typeface="Calibri"/>
              </a:rPr>
              <a:t>💻  Développement local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4901184"/>
            <a:ext cx="5888736" cy="18288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5F2E"/>
                </a:solidFill>
                <a:latin typeface="Calibri"/>
              </a:rPr>
              <a:t>☁️  Production Scaleway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537960"/>
            <a:ext cx="11887200" cy="22860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8888AA"/>
                </a:solidFill>
                <a:latin typeface="Calibri"/>
              </a:rPr>
              <a:t>  Git (code)  ·  DVC (données)  ·  MLflow (modèles)  ·  Pandera (validation)  ·  Prefect (orchestration)  ·  NGINX (sécurité)  ·  Evidently (drift)  ·  Prometheus/Grafana (monitoring)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